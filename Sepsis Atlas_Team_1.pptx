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7"/>
  </p:notesMasterIdLst>
  <p:sldIdLst>
    <p:sldId id="256" r:id="rId2"/>
    <p:sldId id="258" r:id="rId3"/>
    <p:sldId id="260" r:id="rId4"/>
    <p:sldId id="261" r:id="rId5"/>
    <p:sldId id="316" r:id="rId6"/>
    <p:sldId id="296" r:id="rId7"/>
    <p:sldId id="266" r:id="rId8"/>
    <p:sldId id="314" r:id="rId9"/>
    <p:sldId id="315" r:id="rId10"/>
    <p:sldId id="265" r:id="rId11"/>
    <p:sldId id="317" r:id="rId12"/>
    <p:sldId id="320" r:id="rId13"/>
    <p:sldId id="321" r:id="rId14"/>
    <p:sldId id="322" r:id="rId15"/>
    <p:sldId id="319" r:id="rId16"/>
    <p:sldId id="323" r:id="rId17"/>
    <p:sldId id="297" r:id="rId18"/>
    <p:sldId id="263" r:id="rId19"/>
    <p:sldId id="298" r:id="rId20"/>
    <p:sldId id="318" r:id="rId21"/>
    <p:sldId id="306" r:id="rId22"/>
    <p:sldId id="267" r:id="rId23"/>
    <p:sldId id="308" r:id="rId24"/>
    <p:sldId id="309" r:id="rId25"/>
    <p:sldId id="275" r:id="rId26"/>
  </p:sldIdLst>
  <p:sldSz cx="9144000" cy="5143500" type="screen16x9"/>
  <p:notesSz cx="6858000" cy="9144000"/>
  <p:embeddedFontLst>
    <p:embeddedFont>
      <p:font typeface="Akatab" panose="02000000000000000000" pitchFamily="2" charset="77"/>
      <p:regular r:id="rId28"/>
      <p:bold r:id="rId29"/>
    </p:embeddedFont>
    <p:embeddedFont>
      <p:font typeface="Galvji" panose="020B0504020202020204" pitchFamily="34" charset="77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Prompt" pitchFamily="2" charset="-34"/>
      <p:regular r:id="rId38"/>
      <p:bold r:id="rId39"/>
      <p:italic r:id="rId40"/>
      <p:boldItalic r:id="rId41"/>
    </p:embeddedFont>
    <p:embeddedFont>
      <p:font typeface="PT Sans" panose="020B0503020203020204" pitchFamily="34" charset="77"/>
      <p:regular r:id="rId42"/>
      <p:bold r:id="rId43"/>
      <p:italic r:id="rId44"/>
      <p:boldItalic r:id="rId45"/>
    </p:embeddedFont>
    <p:embeddedFont>
      <p:font typeface="Raleway" pitchFamily="2" charset="77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6BFFD1F-A8CB-44B4-A5BB-CCA44E342B5E}">
  <a:tblStyle styleId="{D6BFFD1F-A8CB-44B4-A5BB-CCA44E342B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9F8C86-FC46-413F-9231-59FE017D583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7" autoAdjust="0"/>
    <p:restoredTop sz="94628"/>
  </p:normalViewPr>
  <p:slideViewPr>
    <p:cSldViewPr snapToGrid="0" showGuides="1">
      <p:cViewPr varScale="1">
        <p:scale>
          <a:sx n="159" d="100"/>
          <a:sy n="159" d="100"/>
        </p:scale>
        <p:origin x="23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b007bce5b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b007bce5b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007bce5b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007bce5b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02392562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b02392562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02392562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b02392562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1583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007bce5b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007bce5b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967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b023925627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b023925627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b023925627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b023925627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6089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b023925627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b023925627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1378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b023925627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b023925627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02392562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b02392562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7108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02392562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b02392562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4240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02392562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b02392562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928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02392562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b02392562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0280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02392562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b02392562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09384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02392562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b02392562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04555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007bce5b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007bce5b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243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b023925627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b023925627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b023925627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b023925627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257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b023925627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b023925627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573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007bce5b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007bce5b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04021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b023925627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b023925627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007bce5b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007bce5b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73338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b023925627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b023925627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35560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b02c3c350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b02c3c350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hyperlink" Target="http://bit.ly/2TtBDfr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yoMs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319" t="794"/>
          <a:stretch/>
        </p:blipFill>
        <p:spPr>
          <a:xfrm>
            <a:off x="75" y="0"/>
            <a:ext cx="914399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713225" y="539500"/>
            <a:ext cx="7717500" cy="4064400"/>
          </a:xfrm>
          <a:prstGeom prst="rect">
            <a:avLst/>
          </a:prstGeom>
          <a:solidFill>
            <a:srgbClr val="FFFFFF">
              <a:alpha val="89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367925" y="1434213"/>
            <a:ext cx="6408000" cy="178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832500" y="3302788"/>
            <a:ext cx="3478800" cy="40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503200" y="1098050"/>
            <a:ext cx="10162054" cy="2419077"/>
            <a:chOff x="-503200" y="1098050"/>
            <a:chExt cx="10162054" cy="2419077"/>
          </a:xfrm>
        </p:grpSpPr>
        <p:pic>
          <p:nvPicPr>
            <p:cNvPr id="14" name="Google Shape;14;p2"/>
            <p:cNvPicPr preferRelativeResize="0"/>
            <p:nvPr/>
          </p:nvPicPr>
          <p:blipFill>
            <a:blip r:embed="rId3">
              <a:alphaModFix amt="90000"/>
            </a:blip>
            <a:stretch>
              <a:fillRect/>
            </a:stretch>
          </p:blipFill>
          <p:spPr>
            <a:xfrm flipH="1">
              <a:off x="8522279" y="2373301"/>
              <a:ext cx="1136575" cy="11438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/>
            <p:cNvPicPr preferRelativeResize="0"/>
            <p:nvPr/>
          </p:nvPicPr>
          <p:blipFill>
            <a:blip r:embed="rId4">
              <a:alphaModFix amt="79000"/>
            </a:blip>
            <a:stretch>
              <a:fillRect/>
            </a:stretch>
          </p:blipFill>
          <p:spPr>
            <a:xfrm>
              <a:off x="-503200" y="1098050"/>
              <a:ext cx="1006700" cy="1025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l="741" t="685" r="484"/>
          <a:stretch/>
        </p:blipFill>
        <p:spPr>
          <a:xfrm>
            <a:off x="0" y="0"/>
            <a:ext cx="914399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05895" y="307800"/>
            <a:ext cx="8528400" cy="4527900"/>
          </a:xfrm>
          <a:prstGeom prst="rect">
            <a:avLst/>
          </a:prstGeom>
          <a:solidFill>
            <a:srgbClr val="FFFFFF">
              <a:alpha val="89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703325" y="2609850"/>
            <a:ext cx="36957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5813925" y="1691850"/>
            <a:ext cx="1474500" cy="841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34017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2" name="Google Shape;22;p3"/>
          <p:cNvGrpSpPr/>
          <p:nvPr/>
        </p:nvGrpSpPr>
        <p:grpSpPr>
          <a:xfrm>
            <a:off x="7842925" y="0"/>
            <a:ext cx="1895276" cy="1500703"/>
            <a:chOff x="7842925" y="0"/>
            <a:chExt cx="1895276" cy="1500703"/>
          </a:xfrm>
        </p:grpSpPr>
        <p:pic>
          <p:nvPicPr>
            <p:cNvPr id="23" name="Google Shape;23;p3"/>
            <p:cNvPicPr preferRelativeResize="0"/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8391401" y="145350"/>
              <a:ext cx="1346800" cy="1355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3"/>
            <p:cNvPicPr preferRelativeResize="0"/>
            <p:nvPr/>
          </p:nvPicPr>
          <p:blipFill rotWithShape="1">
            <a:blip r:embed="rId4">
              <a:alphaModFix amt="80000"/>
            </a:blip>
            <a:srcRect l="3361" t="8775" r="1438" b="8758"/>
            <a:stretch/>
          </p:blipFill>
          <p:spPr>
            <a:xfrm>
              <a:off x="7842925" y="183450"/>
              <a:ext cx="1346800" cy="35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3"/>
            <p:cNvSpPr/>
            <p:nvPr/>
          </p:nvSpPr>
          <p:spPr>
            <a:xfrm rot="10800000">
              <a:off x="8974500" y="0"/>
              <a:ext cx="75000" cy="952500"/>
            </a:xfrm>
            <a:prstGeom prst="rect">
              <a:avLst/>
            </a:prstGeom>
            <a:solidFill>
              <a:srgbClr val="FFFFFF">
                <a:alpha val="68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t="685"/>
          <a:stretch/>
        </p:blipFill>
        <p:spPr>
          <a:xfrm flipH="1">
            <a:off x="1" y="0"/>
            <a:ext cx="914399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5"/>
          <p:cNvPicPr preferRelativeResize="0"/>
          <p:nvPr/>
        </p:nvPicPr>
        <p:blipFill rotWithShape="1">
          <a:blip r:embed="rId3">
            <a:alphaModFix amt="83000"/>
          </a:blip>
          <a:srcRect l="5153" t="4347" r="4757" b="5269"/>
          <a:stretch/>
        </p:blipFill>
        <p:spPr>
          <a:xfrm rot="-5400000">
            <a:off x="4227568" y="4395300"/>
            <a:ext cx="673625" cy="82277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305895" y="307800"/>
            <a:ext cx="8528400" cy="4527900"/>
          </a:xfrm>
          <a:prstGeom prst="rect">
            <a:avLst/>
          </a:prstGeom>
          <a:solidFill>
            <a:srgbClr val="FFFFFF">
              <a:alpha val="89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5071640" y="2383675"/>
            <a:ext cx="2505600" cy="13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2"/>
          </p:nvPr>
        </p:nvSpPr>
        <p:spPr>
          <a:xfrm>
            <a:off x="1566605" y="2383675"/>
            <a:ext cx="2505600" cy="13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3"/>
          </p:nvPr>
        </p:nvSpPr>
        <p:spPr>
          <a:xfrm>
            <a:off x="1566705" y="2084879"/>
            <a:ext cx="2505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4"/>
          </p:nvPr>
        </p:nvSpPr>
        <p:spPr>
          <a:xfrm>
            <a:off x="5071755" y="2084879"/>
            <a:ext cx="2505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44" name="Google Shape;44;p5"/>
          <p:cNvGrpSpPr/>
          <p:nvPr/>
        </p:nvGrpSpPr>
        <p:grpSpPr>
          <a:xfrm>
            <a:off x="-504352" y="500301"/>
            <a:ext cx="10400677" cy="2547699"/>
            <a:chOff x="-504352" y="500301"/>
            <a:chExt cx="10400677" cy="2547699"/>
          </a:xfrm>
        </p:grpSpPr>
        <p:pic>
          <p:nvPicPr>
            <p:cNvPr id="45" name="Google Shape;45;p5"/>
            <p:cNvPicPr preferRelativeResize="0"/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-504352" y="500301"/>
              <a:ext cx="1224357" cy="12477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6" name="Google Shape;46;p5"/>
            <p:cNvGrpSpPr/>
            <p:nvPr/>
          </p:nvGrpSpPr>
          <p:grpSpPr>
            <a:xfrm>
              <a:off x="8424000" y="2095500"/>
              <a:ext cx="1472326" cy="952500"/>
              <a:chOff x="8424000" y="2095500"/>
              <a:chExt cx="1472326" cy="952500"/>
            </a:xfrm>
          </p:grpSpPr>
          <p:pic>
            <p:nvPicPr>
              <p:cNvPr id="47" name="Google Shape;47;p5"/>
              <p:cNvPicPr preferRelativeResize="0"/>
              <p:nvPr/>
            </p:nvPicPr>
            <p:blipFill rotWithShape="1">
              <a:blip r:embed="rId5">
                <a:alphaModFix amt="80000"/>
              </a:blip>
              <a:srcRect l="3361" t="8775" r="1438" b="8758"/>
              <a:stretch/>
            </p:blipFill>
            <p:spPr>
              <a:xfrm>
                <a:off x="8424000" y="2352825"/>
                <a:ext cx="1472326" cy="3560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" name="Google Shape;48;p5"/>
              <p:cNvSpPr/>
              <p:nvPr/>
            </p:nvSpPr>
            <p:spPr>
              <a:xfrm rot="10800000">
                <a:off x="8648725" y="2095500"/>
                <a:ext cx="75000" cy="952500"/>
              </a:xfrm>
              <a:prstGeom prst="rect">
                <a:avLst/>
              </a:prstGeom>
              <a:solidFill>
                <a:srgbClr val="FFFFFF">
                  <a:alpha val="683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katab"/>
                  <a:ea typeface="Akatab"/>
                  <a:cs typeface="Akatab"/>
                  <a:sym typeface="Akatab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6"/>
          <p:cNvPicPr preferRelativeResize="0"/>
          <p:nvPr/>
        </p:nvPicPr>
        <p:blipFill rotWithShape="1">
          <a:blip r:embed="rId2">
            <a:alphaModFix/>
          </a:blip>
          <a:srcRect l="30" t="882" r="30"/>
          <a:stretch/>
        </p:blipFill>
        <p:spPr>
          <a:xfrm>
            <a:off x="-25" y="-25"/>
            <a:ext cx="914397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6"/>
          <p:cNvPicPr preferRelativeResize="0"/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-683672" y="-586725"/>
            <a:ext cx="1731326" cy="17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305895" y="307800"/>
            <a:ext cx="8528400" cy="4527900"/>
          </a:xfrm>
          <a:prstGeom prst="rect">
            <a:avLst/>
          </a:prstGeom>
          <a:solidFill>
            <a:srgbClr val="FFFFFF">
              <a:alpha val="89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54" name="Google Shape;54;p6"/>
          <p:cNvGrpSpPr/>
          <p:nvPr/>
        </p:nvGrpSpPr>
        <p:grpSpPr>
          <a:xfrm>
            <a:off x="-557200" y="16413"/>
            <a:ext cx="9305412" cy="4313263"/>
            <a:chOff x="-557200" y="16413"/>
            <a:chExt cx="9305412" cy="4313263"/>
          </a:xfrm>
        </p:grpSpPr>
        <p:pic>
          <p:nvPicPr>
            <p:cNvPr id="55" name="Google Shape;55;p6"/>
            <p:cNvPicPr preferRelativeResize="0"/>
            <p:nvPr/>
          </p:nvPicPr>
          <p:blipFill rotWithShape="1">
            <a:blip r:embed="rId4">
              <a:alphaModFix amt="90000"/>
            </a:blip>
            <a:srcRect l="20472" t="3388" r="50233" b="6024"/>
            <a:stretch/>
          </p:blipFill>
          <p:spPr>
            <a:xfrm rot="10800000">
              <a:off x="8494338" y="16413"/>
              <a:ext cx="253874" cy="1046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56;p6"/>
            <p:cNvSpPr/>
            <p:nvPr/>
          </p:nvSpPr>
          <p:spPr>
            <a:xfrm rot="10800000">
              <a:off x="8583775" y="445025"/>
              <a:ext cx="75000" cy="952500"/>
            </a:xfrm>
            <a:prstGeom prst="rect">
              <a:avLst/>
            </a:prstGeom>
            <a:solidFill>
              <a:srgbClr val="FFFFFF">
                <a:alpha val="68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pic>
          <p:nvPicPr>
            <p:cNvPr id="57" name="Google Shape;57;p6"/>
            <p:cNvPicPr preferRelativeResize="0"/>
            <p:nvPr/>
          </p:nvPicPr>
          <p:blipFill rotWithShape="1">
            <a:blip r:embed="rId5">
              <a:alphaModFix amt="80000"/>
            </a:blip>
            <a:srcRect l="3361" t="8775" r="1438" b="8758"/>
            <a:stretch/>
          </p:blipFill>
          <p:spPr>
            <a:xfrm>
              <a:off x="-557200" y="4022450"/>
              <a:ext cx="1270425" cy="307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8"/>
          <p:cNvPicPr preferRelativeResize="0"/>
          <p:nvPr/>
        </p:nvPicPr>
        <p:blipFill rotWithShape="1">
          <a:blip r:embed="rId2">
            <a:alphaModFix/>
          </a:blip>
          <a:srcRect t="685"/>
          <a:stretch/>
        </p:blipFill>
        <p:spPr>
          <a:xfrm flipH="1">
            <a:off x="1" y="0"/>
            <a:ext cx="914399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305895" y="307800"/>
            <a:ext cx="8528400" cy="4527900"/>
          </a:xfrm>
          <a:prstGeom prst="rect">
            <a:avLst/>
          </a:prstGeom>
          <a:solidFill>
            <a:srgbClr val="FFFFFF">
              <a:alpha val="89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l="741" t="685" r="484"/>
          <a:stretch/>
        </p:blipFill>
        <p:spPr>
          <a:xfrm>
            <a:off x="0" y="0"/>
            <a:ext cx="914399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/>
          <p:nvPr/>
        </p:nvSpPr>
        <p:spPr>
          <a:xfrm>
            <a:off x="305895" y="307800"/>
            <a:ext cx="8528400" cy="4527900"/>
          </a:xfrm>
          <a:prstGeom prst="rect">
            <a:avLst/>
          </a:prstGeom>
          <a:solidFill>
            <a:srgbClr val="FFFFFF">
              <a:alpha val="89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1948800" y="4014450"/>
            <a:ext cx="5246400" cy="441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1"/>
          <p:cNvPicPr preferRelativeResize="0"/>
          <p:nvPr/>
        </p:nvPicPr>
        <p:blipFill rotWithShape="1">
          <a:blip r:embed="rId2">
            <a:alphaModFix/>
          </a:blip>
          <a:srcRect l="30" t="882" r="30"/>
          <a:stretch/>
        </p:blipFill>
        <p:spPr>
          <a:xfrm>
            <a:off x="0" y="-25"/>
            <a:ext cx="915755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1"/>
          <p:cNvPicPr preferRelativeResize="0"/>
          <p:nvPr/>
        </p:nvPicPr>
        <p:blipFill rotWithShape="1">
          <a:blip r:embed="rId3">
            <a:alphaModFix amt="90000"/>
          </a:blip>
          <a:srcRect l="5551" t="1925" r="7447" b="5525"/>
          <a:stretch/>
        </p:blipFill>
        <p:spPr>
          <a:xfrm>
            <a:off x="3189675" y="4396725"/>
            <a:ext cx="406975" cy="12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1"/>
          <p:cNvPicPr preferRelativeResize="0"/>
          <p:nvPr/>
        </p:nvPicPr>
        <p:blipFill rotWithShape="1">
          <a:blip r:embed="rId3">
            <a:alphaModFix amt="90000"/>
          </a:blip>
          <a:srcRect l="5551" t="1925" r="7447" b="5525"/>
          <a:stretch/>
        </p:blipFill>
        <p:spPr>
          <a:xfrm>
            <a:off x="1315150" y="-45725"/>
            <a:ext cx="814650" cy="12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/>
          <p:nvPr/>
        </p:nvSpPr>
        <p:spPr>
          <a:xfrm>
            <a:off x="305895" y="307800"/>
            <a:ext cx="8528400" cy="4527900"/>
          </a:xfrm>
          <a:prstGeom prst="rect">
            <a:avLst/>
          </a:prstGeom>
          <a:solidFill>
            <a:srgbClr val="FFFFFF">
              <a:alpha val="89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1"/>
          <p:cNvSpPr txBox="1">
            <a:spLocks noGrp="1"/>
          </p:cNvSpPr>
          <p:nvPr>
            <p:ph type="title" hasCustomPrompt="1"/>
          </p:nvPr>
        </p:nvSpPr>
        <p:spPr>
          <a:xfrm>
            <a:off x="1831655" y="1675250"/>
            <a:ext cx="5465400" cy="1163400"/>
          </a:xfrm>
          <a:prstGeom prst="rect">
            <a:avLst/>
          </a:prstGeom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5" name="Google Shape;85;p11"/>
          <p:cNvSpPr txBox="1">
            <a:spLocks noGrp="1"/>
          </p:cNvSpPr>
          <p:nvPr>
            <p:ph type="subTitle" idx="1"/>
          </p:nvPr>
        </p:nvSpPr>
        <p:spPr>
          <a:xfrm>
            <a:off x="2940305" y="2971150"/>
            <a:ext cx="32481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6" name="Google Shape;86;p11"/>
          <p:cNvPicPr preferRelativeResize="0"/>
          <p:nvPr/>
        </p:nvPicPr>
        <p:blipFill rotWithShape="1">
          <a:blip r:embed="rId4">
            <a:alphaModFix amt="83000"/>
          </a:blip>
          <a:srcRect l="8423" t="6405" r="7430" b="5256"/>
          <a:stretch/>
        </p:blipFill>
        <p:spPr>
          <a:xfrm>
            <a:off x="215425" y="4265525"/>
            <a:ext cx="543200" cy="67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 rotWithShape="1">
          <a:blip r:embed="rId2">
            <a:alphaModFix/>
          </a:blip>
          <a:srcRect l="646" t="681" b="641"/>
          <a:stretch/>
        </p:blipFill>
        <p:spPr>
          <a:xfrm>
            <a:off x="0" y="0"/>
            <a:ext cx="914399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/>
          <p:nvPr/>
        </p:nvSpPr>
        <p:spPr>
          <a:xfrm>
            <a:off x="305895" y="307800"/>
            <a:ext cx="8528400" cy="4527900"/>
          </a:xfrm>
          <a:prstGeom prst="rect">
            <a:avLst/>
          </a:prstGeom>
          <a:solidFill>
            <a:srgbClr val="FFFFFF">
              <a:alpha val="89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2" hasCustomPrompt="1"/>
          </p:nvPr>
        </p:nvSpPr>
        <p:spPr>
          <a:xfrm>
            <a:off x="1618650" y="1549758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3" hasCustomPrompt="1"/>
          </p:nvPr>
        </p:nvSpPr>
        <p:spPr>
          <a:xfrm>
            <a:off x="1618650" y="3063516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1549758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50" y="3063516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6" hasCustomPrompt="1"/>
          </p:nvPr>
        </p:nvSpPr>
        <p:spPr>
          <a:xfrm>
            <a:off x="6790650" y="1549758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7" hasCustomPrompt="1"/>
          </p:nvPr>
        </p:nvSpPr>
        <p:spPr>
          <a:xfrm>
            <a:off x="6790650" y="3063516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20000" y="2073550"/>
            <a:ext cx="2532000" cy="3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8"/>
          </p:nvPr>
        </p:nvSpPr>
        <p:spPr>
          <a:xfrm>
            <a:off x="3306000" y="2073550"/>
            <a:ext cx="2532000" cy="3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9"/>
          </p:nvPr>
        </p:nvSpPr>
        <p:spPr>
          <a:xfrm>
            <a:off x="5892000" y="2073550"/>
            <a:ext cx="2532000" cy="3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3"/>
          </p:nvPr>
        </p:nvSpPr>
        <p:spPr>
          <a:xfrm>
            <a:off x="720000" y="3587325"/>
            <a:ext cx="2532000" cy="3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4"/>
          </p:nvPr>
        </p:nvSpPr>
        <p:spPr>
          <a:xfrm>
            <a:off x="3306000" y="3587325"/>
            <a:ext cx="2532000" cy="3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5"/>
          </p:nvPr>
        </p:nvSpPr>
        <p:spPr>
          <a:xfrm>
            <a:off x="5892000" y="3587325"/>
            <a:ext cx="2532000" cy="3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04" name="Google Shape;104;p13"/>
          <p:cNvPicPr preferRelativeResize="0"/>
          <p:nvPr/>
        </p:nvPicPr>
        <p:blipFill rotWithShape="1">
          <a:blip r:embed="rId3">
            <a:alphaModFix amt="80000"/>
          </a:blip>
          <a:srcRect l="5153" t="4347" r="4757" b="5269"/>
          <a:stretch/>
        </p:blipFill>
        <p:spPr>
          <a:xfrm>
            <a:off x="149200" y="194950"/>
            <a:ext cx="673625" cy="82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 rotWithShape="1">
          <a:blip r:embed="rId4">
            <a:alphaModFix/>
          </a:blip>
          <a:srcRect l="8423" t="6405" r="7430" b="5256"/>
          <a:stretch/>
        </p:blipFill>
        <p:spPr>
          <a:xfrm rot="-5400000">
            <a:off x="7668550" y="3789075"/>
            <a:ext cx="1163101" cy="144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13"/>
          <p:cNvGrpSpPr/>
          <p:nvPr/>
        </p:nvGrpSpPr>
        <p:grpSpPr>
          <a:xfrm>
            <a:off x="36550" y="3715100"/>
            <a:ext cx="1055660" cy="1702946"/>
            <a:chOff x="36550" y="3715100"/>
            <a:chExt cx="1055660" cy="1702946"/>
          </a:xfrm>
        </p:grpSpPr>
        <p:pic>
          <p:nvPicPr>
            <p:cNvPr id="107" name="Google Shape;107;p13"/>
            <p:cNvPicPr preferRelativeResize="0"/>
            <p:nvPr/>
          </p:nvPicPr>
          <p:blipFill rotWithShape="1">
            <a:blip r:embed="rId5">
              <a:alphaModFix amt="80000"/>
            </a:blip>
            <a:srcRect/>
            <a:stretch/>
          </p:blipFill>
          <p:spPr>
            <a:xfrm>
              <a:off x="36550" y="4342146"/>
              <a:ext cx="1055660" cy="1075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3"/>
            <p:cNvPicPr preferRelativeResize="0"/>
            <p:nvPr/>
          </p:nvPicPr>
          <p:blipFill rotWithShape="1">
            <a:blip r:embed="rId6">
              <a:alphaModFix amt="80000"/>
            </a:blip>
            <a:srcRect l="20472" t="3391" r="66440" b="3447"/>
            <a:stretch/>
          </p:blipFill>
          <p:spPr>
            <a:xfrm>
              <a:off x="429300" y="3715100"/>
              <a:ext cx="113425" cy="1075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3"/>
          <p:cNvPicPr preferRelativeResize="0"/>
          <p:nvPr/>
        </p:nvPicPr>
        <p:blipFill rotWithShape="1">
          <a:blip r:embed="rId2">
            <a:alphaModFix/>
          </a:blip>
          <a:srcRect l="30" t="735" r="30"/>
          <a:stretch/>
        </p:blipFill>
        <p:spPr>
          <a:xfrm flipH="1">
            <a:off x="2" y="-15"/>
            <a:ext cx="9143998" cy="51435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23"/>
          <p:cNvGrpSpPr/>
          <p:nvPr/>
        </p:nvGrpSpPr>
        <p:grpSpPr>
          <a:xfrm>
            <a:off x="-697086" y="-4800"/>
            <a:ext cx="9531381" cy="4317701"/>
            <a:chOff x="-697086" y="-4800"/>
            <a:chExt cx="9531381" cy="4317701"/>
          </a:xfrm>
        </p:grpSpPr>
        <p:pic>
          <p:nvPicPr>
            <p:cNvPr id="202" name="Google Shape;202;p23"/>
            <p:cNvPicPr preferRelativeResize="0"/>
            <p:nvPr/>
          </p:nvPicPr>
          <p:blipFill rotWithShape="1">
            <a:blip r:embed="rId3">
              <a:alphaModFix amt="80000"/>
            </a:blip>
            <a:srcRect l="3361" t="11353" r="1438" b="6559"/>
            <a:stretch/>
          </p:blipFill>
          <p:spPr>
            <a:xfrm rot="5400000">
              <a:off x="7920920" y="554175"/>
              <a:ext cx="1472351" cy="35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3"/>
            <p:cNvPicPr preferRelativeResize="0"/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-697086" y="2986500"/>
              <a:ext cx="1318034" cy="13264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4" name="Google Shape;204;p23"/>
          <p:cNvSpPr/>
          <p:nvPr/>
        </p:nvSpPr>
        <p:spPr>
          <a:xfrm>
            <a:off x="305895" y="307800"/>
            <a:ext cx="8528400" cy="4527900"/>
          </a:xfrm>
          <a:prstGeom prst="rect">
            <a:avLst/>
          </a:prstGeom>
          <a:solidFill>
            <a:srgbClr val="FFFFFF">
              <a:alpha val="89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3"/>
          <p:cNvSpPr txBox="1">
            <a:spLocks noGrp="1"/>
          </p:cNvSpPr>
          <p:nvPr>
            <p:ph type="subTitle" idx="1"/>
          </p:nvPr>
        </p:nvSpPr>
        <p:spPr>
          <a:xfrm>
            <a:off x="876205" y="1537500"/>
            <a:ext cx="33618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3"/>
          <p:cNvSpPr txBox="1">
            <a:spLocks noGrp="1"/>
          </p:cNvSpPr>
          <p:nvPr>
            <p:ph type="subTitle" idx="2"/>
          </p:nvPr>
        </p:nvSpPr>
        <p:spPr>
          <a:xfrm>
            <a:off x="4905988" y="1537500"/>
            <a:ext cx="33618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3"/>
          <p:cNvSpPr txBox="1">
            <a:spLocks noGrp="1"/>
          </p:cNvSpPr>
          <p:nvPr>
            <p:ph type="subTitle" idx="3"/>
          </p:nvPr>
        </p:nvSpPr>
        <p:spPr>
          <a:xfrm>
            <a:off x="876205" y="3198075"/>
            <a:ext cx="33618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3"/>
          <p:cNvSpPr txBox="1">
            <a:spLocks noGrp="1"/>
          </p:cNvSpPr>
          <p:nvPr>
            <p:ph type="subTitle" idx="4"/>
          </p:nvPr>
        </p:nvSpPr>
        <p:spPr>
          <a:xfrm>
            <a:off x="4905988" y="3198075"/>
            <a:ext cx="33618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3"/>
          <p:cNvSpPr txBox="1">
            <a:spLocks noGrp="1"/>
          </p:cNvSpPr>
          <p:nvPr>
            <p:ph type="subTitle" idx="5"/>
          </p:nvPr>
        </p:nvSpPr>
        <p:spPr>
          <a:xfrm>
            <a:off x="876206" y="1238700"/>
            <a:ext cx="33618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1" name="Google Shape;211;p23"/>
          <p:cNvSpPr txBox="1">
            <a:spLocks noGrp="1"/>
          </p:cNvSpPr>
          <p:nvPr>
            <p:ph type="subTitle" idx="6"/>
          </p:nvPr>
        </p:nvSpPr>
        <p:spPr>
          <a:xfrm>
            <a:off x="876206" y="2899263"/>
            <a:ext cx="33618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2" name="Google Shape;212;p23"/>
          <p:cNvSpPr txBox="1">
            <a:spLocks noGrp="1"/>
          </p:cNvSpPr>
          <p:nvPr>
            <p:ph type="subTitle" idx="7"/>
          </p:nvPr>
        </p:nvSpPr>
        <p:spPr>
          <a:xfrm>
            <a:off x="4905960" y="1238700"/>
            <a:ext cx="33618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3" name="Google Shape;213;p23"/>
          <p:cNvSpPr txBox="1">
            <a:spLocks noGrp="1"/>
          </p:cNvSpPr>
          <p:nvPr>
            <p:ph type="subTitle" idx="8"/>
          </p:nvPr>
        </p:nvSpPr>
        <p:spPr>
          <a:xfrm>
            <a:off x="4905960" y="2899263"/>
            <a:ext cx="33618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14" name="Google Shape;214;p23"/>
          <p:cNvGrpSpPr/>
          <p:nvPr/>
        </p:nvGrpSpPr>
        <p:grpSpPr>
          <a:xfrm>
            <a:off x="415228" y="-24834"/>
            <a:ext cx="8738775" cy="4864717"/>
            <a:chOff x="415228" y="-24834"/>
            <a:chExt cx="8738775" cy="4864717"/>
          </a:xfrm>
        </p:grpSpPr>
        <p:pic>
          <p:nvPicPr>
            <p:cNvPr id="215" name="Google Shape;215;p23"/>
            <p:cNvPicPr preferRelativeResize="0"/>
            <p:nvPr/>
          </p:nvPicPr>
          <p:blipFill rotWithShape="1">
            <a:blip r:embed="rId5">
              <a:alphaModFix amt="83000"/>
            </a:blip>
            <a:srcRect l="5153" t="4347" r="4757" b="5269"/>
            <a:stretch/>
          </p:blipFill>
          <p:spPr>
            <a:xfrm>
              <a:off x="8654878" y="-24834"/>
              <a:ext cx="499125" cy="609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6" name="Google Shape;216;p23"/>
            <p:cNvGrpSpPr/>
            <p:nvPr/>
          </p:nvGrpSpPr>
          <p:grpSpPr>
            <a:xfrm flipH="1">
              <a:off x="415228" y="4524414"/>
              <a:ext cx="761285" cy="315468"/>
              <a:chOff x="852350" y="4257675"/>
              <a:chExt cx="835750" cy="346326"/>
            </a:xfrm>
          </p:grpSpPr>
          <p:pic>
            <p:nvPicPr>
              <p:cNvPr id="217" name="Google Shape;217;p23"/>
              <p:cNvPicPr preferRelativeResize="0"/>
              <p:nvPr/>
            </p:nvPicPr>
            <p:blipFill rotWithShape="1">
              <a:blip r:embed="rId6">
                <a:alphaModFix amt="83000"/>
              </a:blip>
              <a:srcRect b="49554"/>
              <a:stretch/>
            </p:blipFill>
            <p:spPr>
              <a:xfrm>
                <a:off x="1014475" y="4257675"/>
                <a:ext cx="673625" cy="3463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8" name="Google Shape;218;p23"/>
              <p:cNvPicPr preferRelativeResize="0"/>
              <p:nvPr/>
            </p:nvPicPr>
            <p:blipFill rotWithShape="1">
              <a:blip r:embed="rId6">
                <a:alphaModFix amt="83000"/>
              </a:blip>
              <a:srcRect b="49554"/>
              <a:stretch/>
            </p:blipFill>
            <p:spPr>
              <a:xfrm>
                <a:off x="852350" y="4420900"/>
                <a:ext cx="356142" cy="1831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5"/>
          <p:cNvPicPr preferRelativeResize="0"/>
          <p:nvPr/>
        </p:nvPicPr>
        <p:blipFill rotWithShape="1">
          <a:blip r:embed="rId2">
            <a:alphaModFix/>
          </a:blip>
          <a:srcRect l="30" t="882" r="30"/>
          <a:stretch/>
        </p:blipFill>
        <p:spPr>
          <a:xfrm>
            <a:off x="-25" y="0"/>
            <a:ext cx="914399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/>
          <p:cNvPicPr preferRelativeResize="0"/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7158474" y="4134590"/>
            <a:ext cx="1225251" cy="123303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/>
          <p:nvPr/>
        </p:nvSpPr>
        <p:spPr>
          <a:xfrm>
            <a:off x="305895" y="307800"/>
            <a:ext cx="8528400" cy="4527900"/>
          </a:xfrm>
          <a:prstGeom prst="rect">
            <a:avLst/>
          </a:prstGeom>
          <a:solidFill>
            <a:srgbClr val="FFFFFF">
              <a:alpha val="89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25"/>
          <p:cNvSpPr txBox="1">
            <a:spLocks noGrp="1"/>
          </p:cNvSpPr>
          <p:nvPr>
            <p:ph type="title" hasCustomPrompt="1"/>
          </p:nvPr>
        </p:nvSpPr>
        <p:spPr>
          <a:xfrm>
            <a:off x="790767" y="2862675"/>
            <a:ext cx="3492600" cy="76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5"/>
          <p:cNvSpPr txBox="1">
            <a:spLocks noGrp="1"/>
          </p:cNvSpPr>
          <p:nvPr>
            <p:ph type="subTitle" idx="1"/>
          </p:nvPr>
        </p:nvSpPr>
        <p:spPr>
          <a:xfrm>
            <a:off x="790780" y="3631574"/>
            <a:ext cx="34926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6" name="Google Shape;246;p25"/>
          <p:cNvSpPr txBox="1">
            <a:spLocks noGrp="1"/>
          </p:cNvSpPr>
          <p:nvPr>
            <p:ph type="title" idx="2" hasCustomPrompt="1"/>
          </p:nvPr>
        </p:nvSpPr>
        <p:spPr>
          <a:xfrm>
            <a:off x="2818080" y="1151689"/>
            <a:ext cx="3492600" cy="76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25"/>
          <p:cNvSpPr txBox="1">
            <a:spLocks noGrp="1"/>
          </p:cNvSpPr>
          <p:nvPr>
            <p:ph type="subTitle" idx="3"/>
          </p:nvPr>
        </p:nvSpPr>
        <p:spPr>
          <a:xfrm>
            <a:off x="2818080" y="1920601"/>
            <a:ext cx="34926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8" name="Google Shape;248;p25"/>
          <p:cNvSpPr txBox="1">
            <a:spLocks noGrp="1"/>
          </p:cNvSpPr>
          <p:nvPr>
            <p:ph type="title" idx="4" hasCustomPrompt="1"/>
          </p:nvPr>
        </p:nvSpPr>
        <p:spPr>
          <a:xfrm>
            <a:off x="4845393" y="2862675"/>
            <a:ext cx="3492600" cy="76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9" name="Google Shape;249;p25"/>
          <p:cNvSpPr txBox="1">
            <a:spLocks noGrp="1"/>
          </p:cNvSpPr>
          <p:nvPr>
            <p:ph type="subTitle" idx="5"/>
          </p:nvPr>
        </p:nvSpPr>
        <p:spPr>
          <a:xfrm>
            <a:off x="4845405" y="3631574"/>
            <a:ext cx="34926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250" name="Google Shape;250;p25"/>
          <p:cNvGrpSpPr/>
          <p:nvPr/>
        </p:nvGrpSpPr>
        <p:grpSpPr>
          <a:xfrm>
            <a:off x="-910424" y="-241031"/>
            <a:ext cx="10092524" cy="5384531"/>
            <a:chOff x="-910424" y="-241031"/>
            <a:chExt cx="10092524" cy="5384531"/>
          </a:xfrm>
        </p:grpSpPr>
        <p:pic>
          <p:nvPicPr>
            <p:cNvPr id="251" name="Google Shape;251;p25"/>
            <p:cNvPicPr preferRelativeResize="0"/>
            <p:nvPr/>
          </p:nvPicPr>
          <p:blipFill rotWithShape="1">
            <a:blip r:embed="rId4">
              <a:alphaModFix amt="80000"/>
            </a:blip>
            <a:srcRect l="3361" t="8775" r="1438" b="8758"/>
            <a:stretch/>
          </p:blipFill>
          <p:spPr>
            <a:xfrm>
              <a:off x="1003683" y="4753150"/>
              <a:ext cx="1614161" cy="390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5"/>
            <p:cNvSpPr/>
            <p:nvPr/>
          </p:nvSpPr>
          <p:spPr>
            <a:xfrm rot="-5400000">
              <a:off x="1271825" y="4310908"/>
              <a:ext cx="82200" cy="1044300"/>
            </a:xfrm>
            <a:prstGeom prst="rect">
              <a:avLst/>
            </a:prstGeom>
            <a:solidFill>
              <a:srgbClr val="FFFFFF">
                <a:alpha val="68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grpSp>
          <p:nvGrpSpPr>
            <p:cNvPr id="253" name="Google Shape;253;p25"/>
            <p:cNvGrpSpPr/>
            <p:nvPr/>
          </p:nvGrpSpPr>
          <p:grpSpPr>
            <a:xfrm>
              <a:off x="-910424" y="-241031"/>
              <a:ext cx="10092524" cy="2431106"/>
              <a:chOff x="-910424" y="-241031"/>
              <a:chExt cx="10092524" cy="2431106"/>
            </a:xfrm>
          </p:grpSpPr>
          <p:pic>
            <p:nvPicPr>
              <p:cNvPr id="254" name="Google Shape;254;p25"/>
              <p:cNvPicPr preferRelativeResize="0"/>
              <p:nvPr/>
            </p:nvPicPr>
            <p:blipFill>
              <a:blip r:embed="rId5">
                <a:alphaModFix amt="83000"/>
              </a:blip>
              <a:stretch>
                <a:fillRect/>
              </a:stretch>
            </p:blipFill>
            <p:spPr>
              <a:xfrm rot="5400000">
                <a:off x="-895174" y="581675"/>
                <a:ext cx="1593151" cy="1623649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55" name="Google Shape;255;p25"/>
              <p:cNvGrpSpPr/>
              <p:nvPr/>
            </p:nvGrpSpPr>
            <p:grpSpPr>
              <a:xfrm>
                <a:off x="7090520" y="-241031"/>
                <a:ext cx="2091580" cy="1348730"/>
                <a:chOff x="7090520" y="-241031"/>
                <a:chExt cx="2091580" cy="1348730"/>
              </a:xfrm>
            </p:grpSpPr>
            <p:pic>
              <p:nvPicPr>
                <p:cNvPr id="256" name="Google Shape;256;p25"/>
                <p:cNvPicPr preferRelativeResize="0"/>
                <p:nvPr/>
              </p:nvPicPr>
              <p:blipFill rotWithShape="1">
                <a:blip r:embed="rId6">
                  <a:alphaModFix amt="90000"/>
                </a:blip>
                <a:srcRect l="5551" t="1925" r="7447" b="5525"/>
                <a:stretch/>
              </p:blipFill>
              <p:spPr>
                <a:xfrm rot="5400000">
                  <a:off x="8243625" y="-488900"/>
                  <a:ext cx="449575" cy="14273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57" name="Google Shape;257;p25"/>
                <p:cNvPicPr preferRelativeResize="0"/>
                <p:nvPr/>
              </p:nvPicPr>
              <p:blipFill rotWithShape="1">
                <a:blip r:embed="rId3">
                  <a:alphaModFix amt="18000"/>
                </a:blip>
                <a:srcRect/>
                <a:stretch/>
              </p:blipFill>
              <p:spPr>
                <a:xfrm>
                  <a:off x="7090520" y="-241031"/>
                  <a:ext cx="1340255" cy="134873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58" name="Google Shape;258;p25"/>
                <p:cNvPicPr preferRelativeResize="0"/>
                <p:nvPr/>
              </p:nvPicPr>
              <p:blipFill rotWithShape="1">
                <a:blip r:embed="rId3">
                  <a:alphaModFix amt="83000"/>
                </a:blip>
                <a:srcRect/>
                <a:stretch/>
              </p:blipFill>
              <p:spPr>
                <a:xfrm>
                  <a:off x="8338009" y="190556"/>
                  <a:ext cx="573364" cy="57698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l="30" t="862" r="30"/>
          <a:stretch/>
        </p:blipFill>
        <p:spPr>
          <a:xfrm rot="10800000" flipH="1">
            <a:off x="-25" y="-25"/>
            <a:ext cx="9143974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1" name="Google Shape;261;p26"/>
          <p:cNvGrpSpPr/>
          <p:nvPr/>
        </p:nvGrpSpPr>
        <p:grpSpPr>
          <a:xfrm>
            <a:off x="385700" y="233000"/>
            <a:ext cx="8350800" cy="4910500"/>
            <a:chOff x="385700" y="233000"/>
            <a:chExt cx="8350800" cy="4910500"/>
          </a:xfrm>
        </p:grpSpPr>
        <p:pic>
          <p:nvPicPr>
            <p:cNvPr id="262" name="Google Shape;262;p26"/>
            <p:cNvPicPr preferRelativeResize="0"/>
            <p:nvPr/>
          </p:nvPicPr>
          <p:blipFill rotWithShape="1">
            <a:blip r:embed="rId3">
              <a:alphaModFix amt="90000"/>
            </a:blip>
            <a:srcRect l="13904" t="6956" r="36332" b="6956"/>
            <a:stretch/>
          </p:blipFill>
          <p:spPr>
            <a:xfrm rot="10800000">
              <a:off x="8125049" y="3467049"/>
              <a:ext cx="611451" cy="1676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6"/>
            <p:cNvPicPr preferRelativeResize="0"/>
            <p:nvPr/>
          </p:nvPicPr>
          <p:blipFill rotWithShape="1">
            <a:blip r:embed="rId4">
              <a:alphaModFix amt="83000"/>
            </a:blip>
            <a:srcRect l="8423" t="6405" r="7430" b="5256"/>
            <a:stretch/>
          </p:blipFill>
          <p:spPr>
            <a:xfrm rot="5400000">
              <a:off x="530350" y="88350"/>
              <a:ext cx="1174949" cy="1464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4" name="Google Shape;264;p26"/>
          <p:cNvSpPr/>
          <p:nvPr/>
        </p:nvSpPr>
        <p:spPr>
          <a:xfrm>
            <a:off x="713225" y="539500"/>
            <a:ext cx="7717500" cy="4064400"/>
          </a:xfrm>
          <a:prstGeom prst="rect">
            <a:avLst/>
          </a:prstGeom>
          <a:solidFill>
            <a:srgbClr val="FFFFFF">
              <a:alpha val="89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26"/>
          <p:cNvSpPr txBox="1">
            <a:spLocks noGrp="1"/>
          </p:cNvSpPr>
          <p:nvPr>
            <p:ph type="title"/>
          </p:nvPr>
        </p:nvSpPr>
        <p:spPr>
          <a:xfrm>
            <a:off x="2562120" y="850038"/>
            <a:ext cx="40197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6"/>
          <p:cNvSpPr txBox="1">
            <a:spLocks noGrp="1"/>
          </p:cNvSpPr>
          <p:nvPr>
            <p:ph type="subTitle" idx="1"/>
          </p:nvPr>
        </p:nvSpPr>
        <p:spPr>
          <a:xfrm>
            <a:off x="2562100" y="1908738"/>
            <a:ext cx="40197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2562150" y="3459038"/>
            <a:ext cx="40197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Akatab"/>
                <a:ea typeface="Akatab"/>
                <a:cs typeface="Akatab"/>
                <a:sym typeface="Akatab"/>
                <a:hlinkClick r:id="rId5"/>
              </a:rPr>
              <a:t>Slidesgo</a:t>
            </a:r>
            <a:r>
              <a:rPr lang="en" sz="10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 </a:t>
            </a:r>
            <a:endParaRPr sz="1000" b="1" u="sng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268" name="Google Shape;268;p26"/>
          <p:cNvGrpSpPr/>
          <p:nvPr/>
        </p:nvGrpSpPr>
        <p:grpSpPr>
          <a:xfrm>
            <a:off x="-896999" y="412562"/>
            <a:ext cx="9183757" cy="4375330"/>
            <a:chOff x="-896999" y="412562"/>
            <a:chExt cx="9183757" cy="4375330"/>
          </a:xfrm>
        </p:grpSpPr>
        <p:grpSp>
          <p:nvGrpSpPr>
            <p:cNvPr id="269" name="Google Shape;269;p26"/>
            <p:cNvGrpSpPr/>
            <p:nvPr/>
          </p:nvGrpSpPr>
          <p:grpSpPr>
            <a:xfrm>
              <a:off x="-896999" y="693558"/>
              <a:ext cx="9183757" cy="4094334"/>
              <a:chOff x="-896999" y="693558"/>
              <a:chExt cx="9183757" cy="4094334"/>
            </a:xfrm>
          </p:grpSpPr>
          <p:pic>
            <p:nvPicPr>
              <p:cNvPr id="270" name="Google Shape;270;p26"/>
              <p:cNvPicPr preferRelativeResize="0"/>
              <p:nvPr/>
            </p:nvPicPr>
            <p:blipFill>
              <a:blip r:embed="rId8">
                <a:alphaModFix amt="90000"/>
              </a:blip>
              <a:stretch>
                <a:fillRect/>
              </a:stretch>
            </p:blipFill>
            <p:spPr>
              <a:xfrm rot="5400000">
                <a:off x="-891256" y="687816"/>
                <a:ext cx="1809134" cy="18206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1" name="Google Shape;271;p26"/>
              <p:cNvPicPr preferRelativeResize="0"/>
              <p:nvPr/>
            </p:nvPicPr>
            <p:blipFill rotWithShape="1">
              <a:blip r:embed="rId4">
                <a:alphaModFix amt="81000"/>
              </a:blip>
              <a:srcRect l="8423" t="66716" r="7430" b="5258"/>
              <a:stretch/>
            </p:blipFill>
            <p:spPr>
              <a:xfrm rot="5400000">
                <a:off x="-31876" y="2317132"/>
                <a:ext cx="514031" cy="203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2" name="Google Shape;272;p26"/>
              <p:cNvSpPr/>
              <p:nvPr/>
            </p:nvSpPr>
            <p:spPr>
              <a:xfrm rot="-5400000">
                <a:off x="7427558" y="3928693"/>
                <a:ext cx="57900" cy="1660500"/>
              </a:xfrm>
              <a:prstGeom prst="rect">
                <a:avLst/>
              </a:prstGeom>
              <a:solidFill>
                <a:srgbClr val="FFFFFF">
                  <a:alpha val="683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katab"/>
                  <a:ea typeface="Akatab"/>
                  <a:cs typeface="Akatab"/>
                  <a:sym typeface="Akatab"/>
                </a:endParaRPr>
              </a:p>
            </p:txBody>
          </p:sp>
        </p:grpSp>
        <p:pic>
          <p:nvPicPr>
            <p:cNvPr id="273" name="Google Shape;273;p26"/>
            <p:cNvPicPr preferRelativeResize="0"/>
            <p:nvPr/>
          </p:nvPicPr>
          <p:blipFill rotWithShape="1">
            <a:blip r:embed="rId3">
              <a:alphaModFix amt="90000"/>
            </a:blip>
            <a:srcRect l="20472" t="3388" r="50233" b="6024"/>
            <a:stretch/>
          </p:blipFill>
          <p:spPr>
            <a:xfrm rot="5400000">
              <a:off x="7292000" y="16412"/>
              <a:ext cx="253874" cy="10461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7"/>
          <p:cNvGrpSpPr/>
          <p:nvPr/>
        </p:nvGrpSpPr>
        <p:grpSpPr>
          <a:xfrm>
            <a:off x="-25" y="0"/>
            <a:ext cx="9143998" cy="5143499"/>
            <a:chOff x="-25" y="0"/>
            <a:chExt cx="9143998" cy="5143499"/>
          </a:xfrm>
        </p:grpSpPr>
        <p:pic>
          <p:nvPicPr>
            <p:cNvPr id="276" name="Google Shape;276;p27"/>
            <p:cNvPicPr preferRelativeResize="0"/>
            <p:nvPr/>
          </p:nvPicPr>
          <p:blipFill rotWithShape="1">
            <a:blip r:embed="rId2">
              <a:alphaModFix/>
            </a:blip>
            <a:srcRect l="30" t="882" r="30"/>
            <a:stretch/>
          </p:blipFill>
          <p:spPr>
            <a:xfrm>
              <a:off x="-25" y="0"/>
              <a:ext cx="9143998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" name="Google Shape;277;p27"/>
            <p:cNvSpPr/>
            <p:nvPr/>
          </p:nvSpPr>
          <p:spPr>
            <a:xfrm>
              <a:off x="138725" y="132150"/>
              <a:ext cx="8866500" cy="4879200"/>
            </a:xfrm>
            <a:prstGeom prst="frame">
              <a:avLst>
                <a:gd name="adj1" fmla="val 181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8"/>
          <p:cNvPicPr preferRelativeResize="0"/>
          <p:nvPr/>
        </p:nvPicPr>
        <p:blipFill rotWithShape="1">
          <a:blip r:embed="rId2">
            <a:alphaModFix/>
          </a:blip>
          <a:srcRect l="402" t="685" r="1578"/>
          <a:stretch/>
        </p:blipFill>
        <p:spPr>
          <a:xfrm>
            <a:off x="0" y="0"/>
            <a:ext cx="9143998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p2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281" name="Google Shape;281;p28"/>
            <p:cNvPicPr preferRelativeResize="0"/>
            <p:nvPr/>
          </p:nvPicPr>
          <p:blipFill rotWithShape="1">
            <a:blip r:embed="rId3">
              <a:alphaModFix amt="83000"/>
            </a:blip>
            <a:srcRect l="8423" t="6405" r="7430" b="5256"/>
            <a:stretch/>
          </p:blipFill>
          <p:spPr>
            <a:xfrm rot="5400000">
              <a:off x="144650" y="-144650"/>
              <a:ext cx="1174949" cy="1464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28"/>
            <p:cNvPicPr preferRelativeResize="0"/>
            <p:nvPr/>
          </p:nvPicPr>
          <p:blipFill rotWithShape="1">
            <a:blip r:embed="rId3">
              <a:alphaModFix amt="83000"/>
            </a:blip>
            <a:srcRect l="8423" t="6405" r="7430" b="5256"/>
            <a:stretch/>
          </p:blipFill>
          <p:spPr>
            <a:xfrm rot="-5400000">
              <a:off x="7824400" y="3823900"/>
              <a:ext cx="1174949" cy="1464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8"/>
            <p:cNvSpPr/>
            <p:nvPr/>
          </p:nvSpPr>
          <p:spPr>
            <a:xfrm>
              <a:off x="1464250" y="0"/>
              <a:ext cx="5395200" cy="20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</p:grpSp>
      <p:sp>
        <p:nvSpPr>
          <p:cNvPr id="284" name="Google Shape;284;p28"/>
          <p:cNvSpPr/>
          <p:nvPr/>
        </p:nvSpPr>
        <p:spPr>
          <a:xfrm>
            <a:off x="266250" y="208500"/>
            <a:ext cx="8611500" cy="472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rompt"/>
              <a:buNone/>
              <a:defRPr sz="2800" b="1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9" r:id="rId11"/>
    <p:sldLayoutId id="2147483671" r:id="rId12"/>
    <p:sldLayoutId id="2147483672" r:id="rId13"/>
    <p:sldLayoutId id="2147483673" r:id="rId14"/>
    <p:sldLayoutId id="2147483674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>
            <a:spLocks noGrp="1"/>
          </p:cNvSpPr>
          <p:nvPr>
            <p:ph type="ctrTitle"/>
          </p:nvPr>
        </p:nvSpPr>
        <p:spPr>
          <a:xfrm>
            <a:off x="1367925" y="1434213"/>
            <a:ext cx="6408000" cy="17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Sepsis Atlas Hackathon</a:t>
            </a:r>
            <a:br>
              <a:rPr lang="en" dirty="0">
                <a:solidFill>
                  <a:schemeClr val="dk2"/>
                </a:solidFill>
              </a:rPr>
            </a:br>
            <a:r>
              <a:rPr lang="en" dirty="0">
                <a:solidFill>
                  <a:schemeClr val="dk2"/>
                </a:solidFill>
              </a:rPr>
              <a:t>2026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96" name="Google Shape;296;p32"/>
          <p:cNvSpPr txBox="1">
            <a:spLocks noGrp="1"/>
          </p:cNvSpPr>
          <p:nvPr>
            <p:ph type="subTitle" idx="1"/>
          </p:nvPr>
        </p:nvSpPr>
        <p:spPr>
          <a:xfrm>
            <a:off x="2832500" y="3302788"/>
            <a:ext cx="34788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"/>
              </a:rPr>
              <a:t>Team</a:t>
            </a:r>
            <a:r>
              <a:rPr lang="en" dirty="0"/>
              <a:t> 1</a:t>
            </a:r>
            <a:endParaRPr dirty="0"/>
          </a:p>
        </p:txBody>
      </p:sp>
      <p:cxnSp>
        <p:nvCxnSpPr>
          <p:cNvPr id="297" name="Google Shape;297;p32"/>
          <p:cNvCxnSpPr>
            <a:stCxn id="296" idx="1"/>
          </p:cNvCxnSpPr>
          <p:nvPr/>
        </p:nvCxnSpPr>
        <p:spPr>
          <a:xfrm rot="10800000">
            <a:off x="1886000" y="3506038"/>
            <a:ext cx="946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98" name="Google Shape;298;p32"/>
          <p:cNvCxnSpPr>
            <a:endCxn id="296" idx="3"/>
          </p:cNvCxnSpPr>
          <p:nvPr/>
        </p:nvCxnSpPr>
        <p:spPr>
          <a:xfrm rot="10800000">
            <a:off x="6311300" y="3506038"/>
            <a:ext cx="946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299" name="Google Shape;299;p32"/>
          <p:cNvGrpSpPr/>
          <p:nvPr/>
        </p:nvGrpSpPr>
        <p:grpSpPr>
          <a:xfrm>
            <a:off x="7228566" y="3346344"/>
            <a:ext cx="1902384" cy="2167962"/>
            <a:chOff x="7228566" y="3346344"/>
            <a:chExt cx="1902384" cy="2167962"/>
          </a:xfrm>
        </p:grpSpPr>
        <p:pic>
          <p:nvPicPr>
            <p:cNvPr id="300" name="Google Shape;300;p32"/>
            <p:cNvPicPr preferRelativeResize="0"/>
            <p:nvPr/>
          </p:nvPicPr>
          <p:blipFill>
            <a:blip r:embed="rId3">
              <a:alphaModFix amt="90000"/>
            </a:blip>
            <a:stretch>
              <a:fillRect/>
            </a:stretch>
          </p:blipFill>
          <p:spPr>
            <a:xfrm>
              <a:off x="7228566" y="3693689"/>
              <a:ext cx="1809134" cy="18206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32"/>
            <p:cNvPicPr preferRelativeResize="0"/>
            <p:nvPr/>
          </p:nvPicPr>
          <p:blipFill rotWithShape="1">
            <a:blip r:embed="rId4">
              <a:alphaModFix amt="90000"/>
            </a:blip>
            <a:srcRect t="6059" r="50236"/>
            <a:stretch/>
          </p:blipFill>
          <p:spPr>
            <a:xfrm rot="5400000">
              <a:off x="8429100" y="3273725"/>
              <a:ext cx="351650" cy="1052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32"/>
            <p:cNvPicPr preferRelativeResize="0"/>
            <p:nvPr/>
          </p:nvPicPr>
          <p:blipFill rotWithShape="1">
            <a:blip r:embed="rId5">
              <a:alphaModFix amt="81000"/>
            </a:blip>
            <a:srcRect l="8423" t="66716" r="7430" b="5258"/>
            <a:stretch/>
          </p:blipFill>
          <p:spPr>
            <a:xfrm>
              <a:off x="8004049" y="3346344"/>
              <a:ext cx="514031" cy="203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32"/>
            <p:cNvSpPr/>
            <p:nvPr/>
          </p:nvSpPr>
          <p:spPr>
            <a:xfrm rot="10800000">
              <a:off x="8754625" y="3493125"/>
              <a:ext cx="57900" cy="1660500"/>
            </a:xfrm>
            <a:prstGeom prst="rect">
              <a:avLst/>
            </a:prstGeom>
            <a:solidFill>
              <a:srgbClr val="FFFFFF">
                <a:alpha val="68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</p:grpSp>
      <p:grpSp>
        <p:nvGrpSpPr>
          <p:cNvPr id="304" name="Google Shape;304;p32"/>
          <p:cNvGrpSpPr/>
          <p:nvPr/>
        </p:nvGrpSpPr>
        <p:grpSpPr>
          <a:xfrm>
            <a:off x="-83926" y="-2"/>
            <a:ext cx="2988400" cy="1392440"/>
            <a:chOff x="-83926" y="-2"/>
            <a:chExt cx="2988400" cy="1392440"/>
          </a:xfrm>
        </p:grpSpPr>
        <p:grpSp>
          <p:nvGrpSpPr>
            <p:cNvPr id="305" name="Google Shape;305;p32"/>
            <p:cNvGrpSpPr/>
            <p:nvPr/>
          </p:nvGrpSpPr>
          <p:grpSpPr>
            <a:xfrm>
              <a:off x="-83926" y="12"/>
              <a:ext cx="2988400" cy="1392426"/>
              <a:chOff x="86810" y="319969"/>
              <a:chExt cx="2394551" cy="1115726"/>
            </a:xfrm>
          </p:grpSpPr>
          <p:pic>
            <p:nvPicPr>
              <p:cNvPr id="306" name="Google Shape;306;p32"/>
              <p:cNvPicPr preferRelativeResize="0"/>
              <p:nvPr/>
            </p:nvPicPr>
            <p:blipFill rotWithShape="1">
              <a:blip r:embed="rId6">
                <a:alphaModFix amt="90000"/>
              </a:blip>
              <a:srcRect t="22733" b="38261"/>
              <a:stretch/>
            </p:blipFill>
            <p:spPr>
              <a:xfrm>
                <a:off x="86810" y="894882"/>
                <a:ext cx="2394551" cy="2607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7" name="Google Shape;307;p32"/>
              <p:cNvPicPr preferRelativeResize="0"/>
              <p:nvPr/>
            </p:nvPicPr>
            <p:blipFill rotWithShape="1">
              <a:blip r:embed="rId4">
                <a:alphaModFix amt="90000"/>
              </a:blip>
              <a:srcRect l="19722" t="3658" r="52055" b="3267"/>
              <a:stretch/>
            </p:blipFill>
            <p:spPr>
              <a:xfrm>
                <a:off x="598613" y="319969"/>
                <a:ext cx="253874" cy="11157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08" name="Google Shape;308;p32"/>
            <p:cNvPicPr preferRelativeResize="0"/>
            <p:nvPr/>
          </p:nvPicPr>
          <p:blipFill rotWithShape="1">
            <a:blip r:embed="rId5">
              <a:alphaModFix amt="81000"/>
            </a:blip>
            <a:srcRect l="8423" t="6405" r="7430" b="5256"/>
            <a:stretch/>
          </p:blipFill>
          <p:spPr>
            <a:xfrm rot="5400000">
              <a:off x="1091550" y="-116529"/>
              <a:ext cx="946500" cy="11795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32"/>
            <p:cNvSpPr/>
            <p:nvPr/>
          </p:nvSpPr>
          <p:spPr>
            <a:xfrm rot="10800000">
              <a:off x="386200" y="75"/>
              <a:ext cx="75000" cy="952500"/>
            </a:xfrm>
            <a:prstGeom prst="rect">
              <a:avLst/>
            </a:prstGeom>
            <a:solidFill>
              <a:srgbClr val="FFFFFF">
                <a:alpha val="68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TABLE OF CONTENTS</a:t>
            </a:r>
            <a:endParaRPr sz="2800"/>
          </a:p>
        </p:txBody>
      </p:sp>
      <p:sp>
        <p:nvSpPr>
          <p:cNvPr id="324" name="Google Shape;324;p34"/>
          <p:cNvSpPr txBox="1">
            <a:spLocks noGrp="1"/>
          </p:cNvSpPr>
          <p:nvPr>
            <p:ph type="subTitle" idx="8"/>
          </p:nvPr>
        </p:nvSpPr>
        <p:spPr>
          <a:xfrm>
            <a:off x="3306000" y="2073550"/>
            <a:ext cx="2532000" cy="3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ARCHITECTURE</a:t>
            </a:r>
            <a:endParaRPr dirty="0"/>
          </a:p>
        </p:txBody>
      </p:sp>
      <p:sp>
        <p:nvSpPr>
          <p:cNvPr id="325" name="Google Shape;325;p34"/>
          <p:cNvSpPr txBox="1">
            <a:spLocks noGrp="1"/>
          </p:cNvSpPr>
          <p:nvPr>
            <p:ph type="title" idx="2"/>
          </p:nvPr>
        </p:nvSpPr>
        <p:spPr>
          <a:xfrm>
            <a:off x="1618650" y="1549758"/>
            <a:ext cx="734700" cy="4476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26" name="Google Shape;326;p34"/>
          <p:cNvSpPr txBox="1">
            <a:spLocks noGrp="1"/>
          </p:cNvSpPr>
          <p:nvPr>
            <p:ph type="title" idx="3"/>
          </p:nvPr>
        </p:nvSpPr>
        <p:spPr>
          <a:xfrm>
            <a:off x="2938650" y="2959156"/>
            <a:ext cx="734700" cy="4476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27" name="Google Shape;327;p34"/>
          <p:cNvSpPr txBox="1">
            <a:spLocks noGrp="1"/>
          </p:cNvSpPr>
          <p:nvPr>
            <p:ph type="title" idx="4"/>
          </p:nvPr>
        </p:nvSpPr>
        <p:spPr>
          <a:xfrm>
            <a:off x="4204650" y="1549758"/>
            <a:ext cx="734700" cy="4476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28" name="Google Shape;328;p34"/>
          <p:cNvSpPr txBox="1">
            <a:spLocks noGrp="1"/>
          </p:cNvSpPr>
          <p:nvPr>
            <p:ph type="title" idx="5"/>
          </p:nvPr>
        </p:nvSpPr>
        <p:spPr>
          <a:xfrm>
            <a:off x="5524650" y="2959156"/>
            <a:ext cx="734700" cy="4476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29" name="Google Shape;329;p34"/>
          <p:cNvSpPr txBox="1">
            <a:spLocks noGrp="1"/>
          </p:cNvSpPr>
          <p:nvPr>
            <p:ph type="title" idx="6"/>
          </p:nvPr>
        </p:nvSpPr>
        <p:spPr>
          <a:xfrm>
            <a:off x="6790650" y="1549758"/>
            <a:ext cx="734700" cy="4476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31" name="Google Shape;331;p34"/>
          <p:cNvSpPr txBox="1">
            <a:spLocks noGrp="1"/>
          </p:cNvSpPr>
          <p:nvPr>
            <p:ph type="subTitle" idx="1"/>
          </p:nvPr>
        </p:nvSpPr>
        <p:spPr>
          <a:xfrm>
            <a:off x="720000" y="2073550"/>
            <a:ext cx="2532000" cy="3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</a:t>
            </a:r>
            <a:endParaRPr dirty="0"/>
          </a:p>
        </p:txBody>
      </p:sp>
      <p:sp>
        <p:nvSpPr>
          <p:cNvPr id="332" name="Google Shape;332;p34"/>
          <p:cNvSpPr txBox="1">
            <a:spLocks noGrp="1"/>
          </p:cNvSpPr>
          <p:nvPr>
            <p:ph type="subTitle" idx="9"/>
          </p:nvPr>
        </p:nvSpPr>
        <p:spPr>
          <a:xfrm>
            <a:off x="5892000" y="2073550"/>
            <a:ext cx="2532000" cy="3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</a:t>
            </a:r>
            <a:endParaRPr dirty="0"/>
          </a:p>
        </p:txBody>
      </p:sp>
      <p:sp>
        <p:nvSpPr>
          <p:cNvPr id="333" name="Google Shape;333;p34"/>
          <p:cNvSpPr txBox="1">
            <a:spLocks noGrp="1"/>
          </p:cNvSpPr>
          <p:nvPr>
            <p:ph type="subTitle" idx="13"/>
          </p:nvPr>
        </p:nvSpPr>
        <p:spPr>
          <a:xfrm>
            <a:off x="2094000" y="3482965"/>
            <a:ext cx="2532000" cy="3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IMPROVEMENTS</a:t>
            </a:r>
            <a:endParaRPr dirty="0"/>
          </a:p>
        </p:txBody>
      </p:sp>
      <p:sp>
        <p:nvSpPr>
          <p:cNvPr id="334" name="Google Shape;334;p34"/>
          <p:cNvSpPr txBox="1">
            <a:spLocks noGrp="1"/>
          </p:cNvSpPr>
          <p:nvPr>
            <p:ph type="subTitle" idx="14"/>
          </p:nvPr>
        </p:nvSpPr>
        <p:spPr>
          <a:xfrm>
            <a:off x="4626000" y="3482965"/>
            <a:ext cx="2532000" cy="3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build="p"/>
      <p:bldP spid="325" grpId="0" animBg="1"/>
      <p:bldP spid="326" grpId="0" animBg="1"/>
      <p:bldP spid="327" grpId="0" animBg="1"/>
      <p:bldP spid="328" grpId="0" animBg="1"/>
      <p:bldP spid="329" grpId="0" animBg="1"/>
      <p:bldP spid="331" grpId="0" build="p"/>
      <p:bldP spid="332" grpId="0" build="p"/>
      <p:bldP spid="333" grpId="0" build="p"/>
      <p:bldP spid="33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6"/>
          <p:cNvGrpSpPr/>
          <p:nvPr/>
        </p:nvGrpSpPr>
        <p:grpSpPr>
          <a:xfrm>
            <a:off x="559400" y="396862"/>
            <a:ext cx="3699125" cy="4349775"/>
            <a:chOff x="559400" y="396862"/>
            <a:chExt cx="3699125" cy="4349775"/>
          </a:xfrm>
        </p:grpSpPr>
        <p:pic>
          <p:nvPicPr>
            <p:cNvPr id="351" name="Google Shape;351;p36"/>
            <p:cNvPicPr preferRelativeResize="0"/>
            <p:nvPr/>
          </p:nvPicPr>
          <p:blipFill rotWithShape="1">
            <a:blip r:embed="rId3">
              <a:alphaModFix amt="60000"/>
            </a:blip>
            <a:srcRect l="8423" t="6405" r="7430" b="5256"/>
            <a:stretch/>
          </p:blipFill>
          <p:spPr>
            <a:xfrm rot="-5400000">
              <a:off x="3374150" y="3862262"/>
              <a:ext cx="787425" cy="981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36"/>
            <p:cNvPicPr preferRelativeResize="0"/>
            <p:nvPr/>
          </p:nvPicPr>
          <p:blipFill rotWithShape="1">
            <a:blip r:embed="rId3">
              <a:alphaModFix amt="60000"/>
            </a:blip>
            <a:srcRect l="8423" t="6405" r="7430" b="5256"/>
            <a:stretch/>
          </p:blipFill>
          <p:spPr>
            <a:xfrm rot="5400000">
              <a:off x="656350" y="299912"/>
              <a:ext cx="787425" cy="981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3" name="Google Shape;353;p36"/>
          <p:cNvSpPr txBox="1">
            <a:spLocks noGrp="1"/>
          </p:cNvSpPr>
          <p:nvPr>
            <p:ph type="title"/>
          </p:nvPr>
        </p:nvSpPr>
        <p:spPr>
          <a:xfrm>
            <a:off x="2724150" y="2609850"/>
            <a:ext cx="36957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</a:t>
            </a:r>
            <a:endParaRPr dirty="0"/>
          </a:p>
        </p:txBody>
      </p:sp>
      <p:sp>
        <p:nvSpPr>
          <p:cNvPr id="355" name="Google Shape;355;p36"/>
          <p:cNvSpPr txBox="1">
            <a:spLocks noGrp="1"/>
          </p:cNvSpPr>
          <p:nvPr>
            <p:ph type="title" idx="2"/>
          </p:nvPr>
        </p:nvSpPr>
        <p:spPr>
          <a:xfrm>
            <a:off x="3834750" y="169185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356" name="Google Shape;356;p36"/>
          <p:cNvGrpSpPr/>
          <p:nvPr/>
        </p:nvGrpSpPr>
        <p:grpSpPr>
          <a:xfrm>
            <a:off x="5342500" y="4493475"/>
            <a:ext cx="835750" cy="346326"/>
            <a:chOff x="852350" y="4257675"/>
            <a:chExt cx="835750" cy="346326"/>
          </a:xfrm>
        </p:grpSpPr>
        <p:pic>
          <p:nvPicPr>
            <p:cNvPr id="357" name="Google Shape;357;p36"/>
            <p:cNvPicPr preferRelativeResize="0"/>
            <p:nvPr/>
          </p:nvPicPr>
          <p:blipFill rotWithShape="1">
            <a:blip r:embed="rId4">
              <a:alphaModFix amt="83000"/>
            </a:blip>
            <a:srcRect b="49554"/>
            <a:stretch/>
          </p:blipFill>
          <p:spPr>
            <a:xfrm>
              <a:off x="1014475" y="4257675"/>
              <a:ext cx="673625" cy="346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36"/>
            <p:cNvPicPr preferRelativeResize="0"/>
            <p:nvPr/>
          </p:nvPicPr>
          <p:blipFill rotWithShape="1">
            <a:blip r:embed="rId4">
              <a:alphaModFix amt="83000"/>
            </a:blip>
            <a:srcRect b="49554"/>
            <a:stretch/>
          </p:blipFill>
          <p:spPr>
            <a:xfrm>
              <a:off x="852350" y="4420900"/>
              <a:ext cx="356142" cy="1831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366" name="Google Shape;366;p37"/>
          <p:cNvSpPr txBox="1">
            <a:spLocks noGrp="1"/>
          </p:cNvSpPr>
          <p:nvPr>
            <p:ph type="subTitle" idx="3"/>
          </p:nvPr>
        </p:nvSpPr>
        <p:spPr>
          <a:xfrm>
            <a:off x="1553924" y="1868310"/>
            <a:ext cx="2505600" cy="7441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effectLst/>
              </a:rPr>
              <a:t>Manual meta-analysis slow and non-scalable</a:t>
            </a:r>
            <a:endParaRPr dirty="0"/>
          </a:p>
        </p:txBody>
      </p:sp>
      <p:sp>
        <p:nvSpPr>
          <p:cNvPr id="367" name="Google Shape;367;p37"/>
          <p:cNvSpPr txBox="1">
            <a:spLocks noGrp="1"/>
          </p:cNvSpPr>
          <p:nvPr>
            <p:ph type="subTitle" idx="4"/>
          </p:nvPr>
        </p:nvSpPr>
        <p:spPr>
          <a:xfrm>
            <a:off x="5047693" y="1868311"/>
            <a:ext cx="2505600" cy="89224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effectLst/>
              </a:rPr>
              <a:t>Medical evidence inside thousands of PDFs</a:t>
            </a:r>
            <a:endParaRPr dirty="0"/>
          </a:p>
        </p:txBody>
      </p:sp>
      <p:grpSp>
        <p:nvGrpSpPr>
          <p:cNvPr id="368" name="Google Shape;368;p37"/>
          <p:cNvGrpSpPr/>
          <p:nvPr/>
        </p:nvGrpSpPr>
        <p:grpSpPr>
          <a:xfrm>
            <a:off x="2611712" y="1412556"/>
            <a:ext cx="367261" cy="367261"/>
            <a:chOff x="-65145700" y="3727425"/>
            <a:chExt cx="317425" cy="317425"/>
          </a:xfrm>
        </p:grpSpPr>
        <p:sp>
          <p:nvSpPr>
            <p:cNvPr id="369" name="Google Shape;369;p37"/>
            <p:cNvSpPr/>
            <p:nvPr/>
          </p:nvSpPr>
          <p:spPr>
            <a:xfrm>
              <a:off x="-65145700" y="376915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514" y="1"/>
                  </a:moveTo>
                  <a:cubicBezTo>
                    <a:pt x="2489" y="1"/>
                    <a:pt x="0" y="2458"/>
                    <a:pt x="0" y="5514"/>
                  </a:cubicBezTo>
                  <a:cubicBezTo>
                    <a:pt x="0" y="8539"/>
                    <a:pt x="2489" y="11027"/>
                    <a:pt x="5514" y="11027"/>
                  </a:cubicBezTo>
                  <a:cubicBezTo>
                    <a:pt x="8538" y="11027"/>
                    <a:pt x="11027" y="8539"/>
                    <a:pt x="11027" y="5514"/>
                  </a:cubicBezTo>
                  <a:cubicBezTo>
                    <a:pt x="11027" y="5294"/>
                    <a:pt x="10869" y="5105"/>
                    <a:pt x="10649" y="5105"/>
                  </a:cubicBezTo>
                  <a:lnTo>
                    <a:pt x="5955" y="5105"/>
                  </a:lnTo>
                  <a:lnTo>
                    <a:pt x="5955" y="410"/>
                  </a:lnTo>
                  <a:cubicBezTo>
                    <a:pt x="5955" y="190"/>
                    <a:pt x="5766" y="1"/>
                    <a:pt x="55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-64977150" y="3727425"/>
              <a:ext cx="148875" cy="147300"/>
            </a:xfrm>
            <a:custGeom>
              <a:avLst/>
              <a:gdLst/>
              <a:ahLst/>
              <a:cxnLst/>
              <a:rect l="l" t="t" r="r" b="b"/>
              <a:pathLst>
                <a:path w="5955" h="5892" extrusionOk="0">
                  <a:moveTo>
                    <a:pt x="441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5513"/>
                  </a:lnTo>
                  <a:cubicBezTo>
                    <a:pt x="0" y="5702"/>
                    <a:pt x="189" y="5891"/>
                    <a:pt x="441" y="5891"/>
                  </a:cubicBezTo>
                  <a:lnTo>
                    <a:pt x="5514" y="5891"/>
                  </a:lnTo>
                  <a:cubicBezTo>
                    <a:pt x="5734" y="5891"/>
                    <a:pt x="5955" y="5702"/>
                    <a:pt x="5955" y="5513"/>
                  </a:cubicBezTo>
                  <a:cubicBezTo>
                    <a:pt x="5955" y="2489"/>
                    <a:pt x="3466" y="0"/>
                    <a:pt x="4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1" name="Google Shape;371;p37"/>
          <p:cNvSpPr/>
          <p:nvPr/>
        </p:nvSpPr>
        <p:spPr>
          <a:xfrm>
            <a:off x="6116747" y="1437605"/>
            <a:ext cx="367261" cy="365438"/>
          </a:xfrm>
          <a:custGeom>
            <a:avLst/>
            <a:gdLst/>
            <a:ahLst/>
            <a:cxnLst/>
            <a:rect l="l" t="t" r="r" b="b"/>
            <a:pathLst>
              <a:path w="12697" h="12634" extrusionOk="0">
                <a:moveTo>
                  <a:pt x="11437" y="819"/>
                </a:moveTo>
                <a:cubicBezTo>
                  <a:pt x="11657" y="819"/>
                  <a:pt x="11815" y="1040"/>
                  <a:pt x="11815" y="1260"/>
                </a:cubicBezTo>
                <a:cubicBezTo>
                  <a:pt x="11815" y="1512"/>
                  <a:pt x="11657" y="1670"/>
                  <a:pt x="11437" y="1670"/>
                </a:cubicBezTo>
                <a:lnTo>
                  <a:pt x="1229" y="1670"/>
                </a:lnTo>
                <a:cubicBezTo>
                  <a:pt x="1009" y="1670"/>
                  <a:pt x="788" y="1449"/>
                  <a:pt x="788" y="1260"/>
                </a:cubicBezTo>
                <a:cubicBezTo>
                  <a:pt x="788" y="1071"/>
                  <a:pt x="1009" y="819"/>
                  <a:pt x="1229" y="819"/>
                </a:cubicBezTo>
                <a:close/>
                <a:moveTo>
                  <a:pt x="8790" y="3277"/>
                </a:moveTo>
                <a:cubicBezTo>
                  <a:pt x="9042" y="3277"/>
                  <a:pt x="9200" y="3466"/>
                  <a:pt x="9200" y="3655"/>
                </a:cubicBezTo>
                <a:lnTo>
                  <a:pt x="9200" y="5356"/>
                </a:lnTo>
                <a:lnTo>
                  <a:pt x="9232" y="5356"/>
                </a:lnTo>
                <a:cubicBezTo>
                  <a:pt x="9232" y="5608"/>
                  <a:pt x="9042" y="5765"/>
                  <a:pt x="8822" y="5765"/>
                </a:cubicBezTo>
                <a:cubicBezTo>
                  <a:pt x="8633" y="5765"/>
                  <a:pt x="8412" y="5545"/>
                  <a:pt x="8412" y="5356"/>
                </a:cubicBezTo>
                <a:lnTo>
                  <a:pt x="8412" y="4694"/>
                </a:lnTo>
                <a:lnTo>
                  <a:pt x="6617" y="6459"/>
                </a:lnTo>
                <a:cubicBezTo>
                  <a:pt x="6538" y="6537"/>
                  <a:pt x="6435" y="6577"/>
                  <a:pt x="6333" y="6577"/>
                </a:cubicBezTo>
                <a:cubicBezTo>
                  <a:pt x="6231" y="6577"/>
                  <a:pt x="6128" y="6537"/>
                  <a:pt x="6050" y="6459"/>
                </a:cubicBezTo>
                <a:lnTo>
                  <a:pt x="5482" y="5923"/>
                </a:lnTo>
                <a:lnTo>
                  <a:pt x="4096" y="7278"/>
                </a:lnTo>
                <a:cubicBezTo>
                  <a:pt x="4033" y="7356"/>
                  <a:pt x="3931" y="7396"/>
                  <a:pt x="3824" y="7396"/>
                </a:cubicBezTo>
                <a:cubicBezTo>
                  <a:pt x="3718" y="7396"/>
                  <a:pt x="3608" y="7356"/>
                  <a:pt x="3529" y="7278"/>
                </a:cubicBezTo>
                <a:cubicBezTo>
                  <a:pt x="3372" y="7120"/>
                  <a:pt x="3372" y="6868"/>
                  <a:pt x="3529" y="6711"/>
                </a:cubicBezTo>
                <a:lnTo>
                  <a:pt x="5167" y="5041"/>
                </a:lnTo>
                <a:cubicBezTo>
                  <a:pt x="5246" y="4962"/>
                  <a:pt x="5356" y="4923"/>
                  <a:pt x="5467" y="4923"/>
                </a:cubicBezTo>
                <a:cubicBezTo>
                  <a:pt x="5577" y="4923"/>
                  <a:pt x="5687" y="4962"/>
                  <a:pt x="5766" y="5041"/>
                </a:cubicBezTo>
                <a:lnTo>
                  <a:pt x="6302" y="5608"/>
                </a:lnTo>
                <a:lnTo>
                  <a:pt x="7814" y="4096"/>
                </a:lnTo>
                <a:lnTo>
                  <a:pt x="7152" y="4096"/>
                </a:lnTo>
                <a:cubicBezTo>
                  <a:pt x="6900" y="4096"/>
                  <a:pt x="6743" y="3907"/>
                  <a:pt x="6743" y="3655"/>
                </a:cubicBezTo>
                <a:cubicBezTo>
                  <a:pt x="6743" y="3434"/>
                  <a:pt x="6932" y="3277"/>
                  <a:pt x="7152" y="3277"/>
                </a:cubicBezTo>
                <a:close/>
                <a:moveTo>
                  <a:pt x="6302" y="11058"/>
                </a:moveTo>
                <a:cubicBezTo>
                  <a:pt x="6554" y="11058"/>
                  <a:pt x="6743" y="11279"/>
                  <a:pt x="6743" y="11468"/>
                </a:cubicBezTo>
                <a:cubicBezTo>
                  <a:pt x="6743" y="11657"/>
                  <a:pt x="6554" y="11846"/>
                  <a:pt x="6302" y="11846"/>
                </a:cubicBezTo>
                <a:cubicBezTo>
                  <a:pt x="6081" y="11846"/>
                  <a:pt x="5924" y="11657"/>
                  <a:pt x="5924" y="11468"/>
                </a:cubicBezTo>
                <a:cubicBezTo>
                  <a:pt x="5924" y="11279"/>
                  <a:pt x="6113" y="11058"/>
                  <a:pt x="6302" y="11058"/>
                </a:cubicBezTo>
                <a:close/>
                <a:moveTo>
                  <a:pt x="1229" y="0"/>
                </a:moveTo>
                <a:cubicBezTo>
                  <a:pt x="568" y="0"/>
                  <a:pt x="1" y="536"/>
                  <a:pt x="1" y="1229"/>
                </a:cubicBezTo>
                <a:cubicBezTo>
                  <a:pt x="1" y="1764"/>
                  <a:pt x="379" y="2205"/>
                  <a:pt x="851" y="2394"/>
                </a:cubicBezTo>
                <a:lnTo>
                  <a:pt x="851" y="8254"/>
                </a:lnTo>
                <a:lnTo>
                  <a:pt x="442" y="8254"/>
                </a:lnTo>
                <a:cubicBezTo>
                  <a:pt x="221" y="8254"/>
                  <a:pt x="64" y="8475"/>
                  <a:pt x="64" y="8664"/>
                </a:cubicBezTo>
                <a:cubicBezTo>
                  <a:pt x="64" y="8916"/>
                  <a:pt x="253" y="9042"/>
                  <a:pt x="442" y="9042"/>
                </a:cubicBezTo>
                <a:lnTo>
                  <a:pt x="5955" y="9042"/>
                </a:lnTo>
                <a:lnTo>
                  <a:pt x="5955" y="10239"/>
                </a:lnTo>
                <a:cubicBezTo>
                  <a:pt x="5482" y="10397"/>
                  <a:pt x="5136" y="10869"/>
                  <a:pt x="5136" y="11405"/>
                </a:cubicBezTo>
                <a:cubicBezTo>
                  <a:pt x="5136" y="12098"/>
                  <a:pt x="5671" y="12633"/>
                  <a:pt x="6365" y="12633"/>
                </a:cubicBezTo>
                <a:cubicBezTo>
                  <a:pt x="7026" y="12633"/>
                  <a:pt x="7625" y="12098"/>
                  <a:pt x="7625" y="11405"/>
                </a:cubicBezTo>
                <a:cubicBezTo>
                  <a:pt x="7625" y="10869"/>
                  <a:pt x="7247" y="10428"/>
                  <a:pt x="6774" y="10239"/>
                </a:cubicBezTo>
                <a:lnTo>
                  <a:pt x="6774" y="9042"/>
                </a:lnTo>
                <a:lnTo>
                  <a:pt x="12288" y="9042"/>
                </a:lnTo>
                <a:cubicBezTo>
                  <a:pt x="12540" y="9042"/>
                  <a:pt x="12697" y="8853"/>
                  <a:pt x="12697" y="8664"/>
                </a:cubicBezTo>
                <a:cubicBezTo>
                  <a:pt x="12666" y="8443"/>
                  <a:pt x="12508" y="8254"/>
                  <a:pt x="12256" y="8254"/>
                </a:cubicBezTo>
                <a:lnTo>
                  <a:pt x="11815" y="8254"/>
                </a:lnTo>
                <a:lnTo>
                  <a:pt x="11815" y="2394"/>
                </a:lnTo>
                <a:cubicBezTo>
                  <a:pt x="12288" y="2237"/>
                  <a:pt x="12666" y="1764"/>
                  <a:pt x="12666" y="1229"/>
                </a:cubicBezTo>
                <a:cubicBezTo>
                  <a:pt x="12666" y="567"/>
                  <a:pt x="12098" y="0"/>
                  <a:pt x="114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67;p37">
            <a:extLst>
              <a:ext uri="{FF2B5EF4-FFF2-40B4-BE49-F238E27FC236}">
                <a16:creationId xmlns:a16="http://schemas.microsoft.com/office/drawing/2014/main" id="{FF0F7ED5-B9F4-845B-39B1-A30F11C196B4}"/>
              </a:ext>
            </a:extLst>
          </p:cNvPr>
          <p:cNvSpPr txBox="1">
            <a:spLocks/>
          </p:cNvSpPr>
          <p:nvPr/>
        </p:nvSpPr>
        <p:spPr>
          <a:xfrm>
            <a:off x="3149086" y="3191939"/>
            <a:ext cx="2845826" cy="6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1" i="0" u="none" strike="noStrike" cap="none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b="1" i="0" dirty="0">
                <a:effectLst/>
              </a:rPr>
              <a:t>Doctors need structured, analysis-ready evidence</a:t>
            </a:r>
            <a:endParaRPr lang="en-US" dirty="0"/>
          </a:p>
        </p:txBody>
      </p:sp>
      <p:sp>
        <p:nvSpPr>
          <p:cNvPr id="4" name="Google Shape;371;p37">
            <a:extLst>
              <a:ext uri="{FF2B5EF4-FFF2-40B4-BE49-F238E27FC236}">
                <a16:creationId xmlns:a16="http://schemas.microsoft.com/office/drawing/2014/main" id="{02B9B292-0431-7A97-7BCB-63135D485632}"/>
              </a:ext>
            </a:extLst>
          </p:cNvPr>
          <p:cNvSpPr/>
          <p:nvPr/>
        </p:nvSpPr>
        <p:spPr>
          <a:xfrm>
            <a:off x="4388369" y="2826501"/>
            <a:ext cx="367261" cy="365438"/>
          </a:xfrm>
          <a:custGeom>
            <a:avLst/>
            <a:gdLst/>
            <a:ahLst/>
            <a:cxnLst/>
            <a:rect l="l" t="t" r="r" b="b"/>
            <a:pathLst>
              <a:path w="12697" h="12634" extrusionOk="0">
                <a:moveTo>
                  <a:pt x="11437" y="819"/>
                </a:moveTo>
                <a:cubicBezTo>
                  <a:pt x="11657" y="819"/>
                  <a:pt x="11815" y="1040"/>
                  <a:pt x="11815" y="1260"/>
                </a:cubicBezTo>
                <a:cubicBezTo>
                  <a:pt x="11815" y="1512"/>
                  <a:pt x="11657" y="1670"/>
                  <a:pt x="11437" y="1670"/>
                </a:cubicBezTo>
                <a:lnTo>
                  <a:pt x="1229" y="1670"/>
                </a:lnTo>
                <a:cubicBezTo>
                  <a:pt x="1009" y="1670"/>
                  <a:pt x="788" y="1449"/>
                  <a:pt x="788" y="1260"/>
                </a:cubicBezTo>
                <a:cubicBezTo>
                  <a:pt x="788" y="1071"/>
                  <a:pt x="1009" y="819"/>
                  <a:pt x="1229" y="819"/>
                </a:cubicBezTo>
                <a:close/>
                <a:moveTo>
                  <a:pt x="8790" y="3277"/>
                </a:moveTo>
                <a:cubicBezTo>
                  <a:pt x="9042" y="3277"/>
                  <a:pt x="9200" y="3466"/>
                  <a:pt x="9200" y="3655"/>
                </a:cubicBezTo>
                <a:lnTo>
                  <a:pt x="9200" y="5356"/>
                </a:lnTo>
                <a:lnTo>
                  <a:pt x="9232" y="5356"/>
                </a:lnTo>
                <a:cubicBezTo>
                  <a:pt x="9232" y="5608"/>
                  <a:pt x="9042" y="5765"/>
                  <a:pt x="8822" y="5765"/>
                </a:cubicBezTo>
                <a:cubicBezTo>
                  <a:pt x="8633" y="5765"/>
                  <a:pt x="8412" y="5545"/>
                  <a:pt x="8412" y="5356"/>
                </a:cubicBezTo>
                <a:lnTo>
                  <a:pt x="8412" y="4694"/>
                </a:lnTo>
                <a:lnTo>
                  <a:pt x="6617" y="6459"/>
                </a:lnTo>
                <a:cubicBezTo>
                  <a:pt x="6538" y="6537"/>
                  <a:pt x="6435" y="6577"/>
                  <a:pt x="6333" y="6577"/>
                </a:cubicBezTo>
                <a:cubicBezTo>
                  <a:pt x="6231" y="6577"/>
                  <a:pt x="6128" y="6537"/>
                  <a:pt x="6050" y="6459"/>
                </a:cubicBezTo>
                <a:lnTo>
                  <a:pt x="5482" y="5923"/>
                </a:lnTo>
                <a:lnTo>
                  <a:pt x="4096" y="7278"/>
                </a:lnTo>
                <a:cubicBezTo>
                  <a:pt x="4033" y="7356"/>
                  <a:pt x="3931" y="7396"/>
                  <a:pt x="3824" y="7396"/>
                </a:cubicBezTo>
                <a:cubicBezTo>
                  <a:pt x="3718" y="7396"/>
                  <a:pt x="3608" y="7356"/>
                  <a:pt x="3529" y="7278"/>
                </a:cubicBezTo>
                <a:cubicBezTo>
                  <a:pt x="3372" y="7120"/>
                  <a:pt x="3372" y="6868"/>
                  <a:pt x="3529" y="6711"/>
                </a:cubicBezTo>
                <a:lnTo>
                  <a:pt x="5167" y="5041"/>
                </a:lnTo>
                <a:cubicBezTo>
                  <a:pt x="5246" y="4962"/>
                  <a:pt x="5356" y="4923"/>
                  <a:pt x="5467" y="4923"/>
                </a:cubicBezTo>
                <a:cubicBezTo>
                  <a:pt x="5577" y="4923"/>
                  <a:pt x="5687" y="4962"/>
                  <a:pt x="5766" y="5041"/>
                </a:cubicBezTo>
                <a:lnTo>
                  <a:pt x="6302" y="5608"/>
                </a:lnTo>
                <a:lnTo>
                  <a:pt x="7814" y="4096"/>
                </a:lnTo>
                <a:lnTo>
                  <a:pt x="7152" y="4096"/>
                </a:lnTo>
                <a:cubicBezTo>
                  <a:pt x="6900" y="4096"/>
                  <a:pt x="6743" y="3907"/>
                  <a:pt x="6743" y="3655"/>
                </a:cubicBezTo>
                <a:cubicBezTo>
                  <a:pt x="6743" y="3434"/>
                  <a:pt x="6932" y="3277"/>
                  <a:pt x="7152" y="3277"/>
                </a:cubicBezTo>
                <a:close/>
                <a:moveTo>
                  <a:pt x="6302" y="11058"/>
                </a:moveTo>
                <a:cubicBezTo>
                  <a:pt x="6554" y="11058"/>
                  <a:pt x="6743" y="11279"/>
                  <a:pt x="6743" y="11468"/>
                </a:cubicBezTo>
                <a:cubicBezTo>
                  <a:pt x="6743" y="11657"/>
                  <a:pt x="6554" y="11846"/>
                  <a:pt x="6302" y="11846"/>
                </a:cubicBezTo>
                <a:cubicBezTo>
                  <a:pt x="6081" y="11846"/>
                  <a:pt x="5924" y="11657"/>
                  <a:pt x="5924" y="11468"/>
                </a:cubicBezTo>
                <a:cubicBezTo>
                  <a:pt x="5924" y="11279"/>
                  <a:pt x="6113" y="11058"/>
                  <a:pt x="6302" y="11058"/>
                </a:cubicBezTo>
                <a:close/>
                <a:moveTo>
                  <a:pt x="1229" y="0"/>
                </a:moveTo>
                <a:cubicBezTo>
                  <a:pt x="568" y="0"/>
                  <a:pt x="1" y="536"/>
                  <a:pt x="1" y="1229"/>
                </a:cubicBezTo>
                <a:cubicBezTo>
                  <a:pt x="1" y="1764"/>
                  <a:pt x="379" y="2205"/>
                  <a:pt x="851" y="2394"/>
                </a:cubicBezTo>
                <a:lnTo>
                  <a:pt x="851" y="8254"/>
                </a:lnTo>
                <a:lnTo>
                  <a:pt x="442" y="8254"/>
                </a:lnTo>
                <a:cubicBezTo>
                  <a:pt x="221" y="8254"/>
                  <a:pt x="64" y="8475"/>
                  <a:pt x="64" y="8664"/>
                </a:cubicBezTo>
                <a:cubicBezTo>
                  <a:pt x="64" y="8916"/>
                  <a:pt x="253" y="9042"/>
                  <a:pt x="442" y="9042"/>
                </a:cubicBezTo>
                <a:lnTo>
                  <a:pt x="5955" y="9042"/>
                </a:lnTo>
                <a:lnTo>
                  <a:pt x="5955" y="10239"/>
                </a:lnTo>
                <a:cubicBezTo>
                  <a:pt x="5482" y="10397"/>
                  <a:pt x="5136" y="10869"/>
                  <a:pt x="5136" y="11405"/>
                </a:cubicBezTo>
                <a:cubicBezTo>
                  <a:pt x="5136" y="12098"/>
                  <a:pt x="5671" y="12633"/>
                  <a:pt x="6365" y="12633"/>
                </a:cubicBezTo>
                <a:cubicBezTo>
                  <a:pt x="7026" y="12633"/>
                  <a:pt x="7625" y="12098"/>
                  <a:pt x="7625" y="11405"/>
                </a:cubicBezTo>
                <a:cubicBezTo>
                  <a:pt x="7625" y="10869"/>
                  <a:pt x="7247" y="10428"/>
                  <a:pt x="6774" y="10239"/>
                </a:cubicBezTo>
                <a:lnTo>
                  <a:pt x="6774" y="9042"/>
                </a:lnTo>
                <a:lnTo>
                  <a:pt x="12288" y="9042"/>
                </a:lnTo>
                <a:cubicBezTo>
                  <a:pt x="12540" y="9042"/>
                  <a:pt x="12697" y="8853"/>
                  <a:pt x="12697" y="8664"/>
                </a:cubicBezTo>
                <a:cubicBezTo>
                  <a:pt x="12666" y="8443"/>
                  <a:pt x="12508" y="8254"/>
                  <a:pt x="12256" y="8254"/>
                </a:cubicBezTo>
                <a:lnTo>
                  <a:pt x="11815" y="8254"/>
                </a:lnTo>
                <a:lnTo>
                  <a:pt x="11815" y="2394"/>
                </a:lnTo>
                <a:cubicBezTo>
                  <a:pt x="12288" y="2237"/>
                  <a:pt x="12666" y="1764"/>
                  <a:pt x="12666" y="1229"/>
                </a:cubicBezTo>
                <a:cubicBezTo>
                  <a:pt x="12666" y="567"/>
                  <a:pt x="12098" y="0"/>
                  <a:pt x="114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66;p37">
            <a:extLst>
              <a:ext uri="{FF2B5EF4-FFF2-40B4-BE49-F238E27FC236}">
                <a16:creationId xmlns:a16="http://schemas.microsoft.com/office/drawing/2014/main" id="{061C7F9F-1E10-D62F-307A-72079DA350A1}"/>
              </a:ext>
            </a:extLst>
          </p:cNvPr>
          <p:cNvSpPr txBox="1">
            <a:spLocks/>
          </p:cNvSpPr>
          <p:nvPr/>
        </p:nvSpPr>
        <p:spPr>
          <a:xfrm>
            <a:off x="1910979" y="4136865"/>
            <a:ext cx="5322042" cy="451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1" i="0" u="none" strike="noStrike" cap="none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b="1" i="0" dirty="0">
                <a:effectLst/>
              </a:rPr>
              <a:t>Goal: Convert papers into searchable evidence.</a:t>
            </a:r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>
            <a:spLocks noGrp="1"/>
          </p:cNvSpPr>
          <p:nvPr>
            <p:ph type="title"/>
          </p:nvPr>
        </p:nvSpPr>
        <p:spPr>
          <a:xfrm>
            <a:off x="720000" y="55466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Goal</a:t>
            </a:r>
            <a:endParaRPr dirty="0"/>
          </a:p>
        </p:txBody>
      </p:sp>
      <p:sp>
        <p:nvSpPr>
          <p:cNvPr id="6" name="Google Shape;366;p37">
            <a:extLst>
              <a:ext uri="{FF2B5EF4-FFF2-40B4-BE49-F238E27FC236}">
                <a16:creationId xmlns:a16="http://schemas.microsoft.com/office/drawing/2014/main" id="{061C7F9F-1E10-D62F-307A-72079DA350A1}"/>
              </a:ext>
            </a:extLst>
          </p:cNvPr>
          <p:cNvSpPr txBox="1">
            <a:spLocks/>
          </p:cNvSpPr>
          <p:nvPr/>
        </p:nvSpPr>
        <p:spPr>
          <a:xfrm>
            <a:off x="1910979" y="1234440"/>
            <a:ext cx="5322042" cy="335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1" i="0" u="none" strike="noStrike" cap="none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Read medical papers</a:t>
            </a:r>
          </a:p>
          <a:p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↓</a:t>
            </a:r>
          </a:p>
          <a:p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Extract relevant findings</a:t>
            </a:r>
          </a:p>
          <a:p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↓</a:t>
            </a:r>
          </a:p>
          <a:p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Structure evidence</a:t>
            </a:r>
          </a:p>
          <a:p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↓</a:t>
            </a:r>
          </a:p>
          <a:p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Produce easy-to-read output</a:t>
            </a:r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5037001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6"/>
          <p:cNvGrpSpPr/>
          <p:nvPr/>
        </p:nvGrpSpPr>
        <p:grpSpPr>
          <a:xfrm>
            <a:off x="559400" y="396862"/>
            <a:ext cx="3699125" cy="4349775"/>
            <a:chOff x="559400" y="396862"/>
            <a:chExt cx="3699125" cy="4349775"/>
          </a:xfrm>
        </p:grpSpPr>
        <p:pic>
          <p:nvPicPr>
            <p:cNvPr id="351" name="Google Shape;351;p36"/>
            <p:cNvPicPr preferRelativeResize="0"/>
            <p:nvPr/>
          </p:nvPicPr>
          <p:blipFill rotWithShape="1">
            <a:blip r:embed="rId3">
              <a:alphaModFix amt="60000"/>
            </a:blip>
            <a:srcRect l="8423" t="6405" r="7430" b="5256"/>
            <a:stretch/>
          </p:blipFill>
          <p:spPr>
            <a:xfrm rot="-5400000">
              <a:off x="3374150" y="3862262"/>
              <a:ext cx="787425" cy="981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36"/>
            <p:cNvPicPr preferRelativeResize="0"/>
            <p:nvPr/>
          </p:nvPicPr>
          <p:blipFill rotWithShape="1">
            <a:blip r:embed="rId3">
              <a:alphaModFix amt="60000"/>
            </a:blip>
            <a:srcRect l="8423" t="6405" r="7430" b="5256"/>
            <a:stretch/>
          </p:blipFill>
          <p:spPr>
            <a:xfrm rot="5400000">
              <a:off x="656350" y="299912"/>
              <a:ext cx="787425" cy="981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3" name="Google Shape;353;p36"/>
          <p:cNvSpPr txBox="1">
            <a:spLocks noGrp="1"/>
          </p:cNvSpPr>
          <p:nvPr>
            <p:ph type="title"/>
          </p:nvPr>
        </p:nvSpPr>
        <p:spPr>
          <a:xfrm>
            <a:off x="4270679" y="2609851"/>
            <a:ext cx="4560991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ARCHITECTURE</a:t>
            </a:r>
            <a:endParaRPr dirty="0"/>
          </a:p>
        </p:txBody>
      </p:sp>
      <p:sp>
        <p:nvSpPr>
          <p:cNvPr id="355" name="Google Shape;355;p36"/>
          <p:cNvSpPr txBox="1">
            <a:spLocks noGrp="1"/>
          </p:cNvSpPr>
          <p:nvPr>
            <p:ph type="title" idx="2"/>
          </p:nvPr>
        </p:nvSpPr>
        <p:spPr>
          <a:xfrm>
            <a:off x="5813925" y="169185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356" name="Google Shape;356;p36"/>
          <p:cNvGrpSpPr/>
          <p:nvPr/>
        </p:nvGrpSpPr>
        <p:grpSpPr>
          <a:xfrm>
            <a:off x="5342500" y="4493475"/>
            <a:ext cx="835750" cy="346326"/>
            <a:chOff x="852350" y="4257675"/>
            <a:chExt cx="835750" cy="346326"/>
          </a:xfrm>
        </p:grpSpPr>
        <p:pic>
          <p:nvPicPr>
            <p:cNvPr id="357" name="Google Shape;357;p36"/>
            <p:cNvPicPr preferRelativeResize="0"/>
            <p:nvPr/>
          </p:nvPicPr>
          <p:blipFill rotWithShape="1">
            <a:blip r:embed="rId4">
              <a:alphaModFix amt="83000"/>
            </a:blip>
            <a:srcRect b="49554"/>
            <a:stretch/>
          </p:blipFill>
          <p:spPr>
            <a:xfrm>
              <a:off x="1014475" y="4257675"/>
              <a:ext cx="673625" cy="346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36"/>
            <p:cNvPicPr preferRelativeResize="0"/>
            <p:nvPr/>
          </p:nvPicPr>
          <p:blipFill rotWithShape="1">
            <a:blip r:embed="rId4">
              <a:alphaModFix amt="83000"/>
            </a:blip>
            <a:srcRect b="49554"/>
            <a:stretch/>
          </p:blipFill>
          <p:spPr>
            <a:xfrm>
              <a:off x="852350" y="4420900"/>
              <a:ext cx="356142" cy="183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50" name="Picture 2" descr="Compute system architecture | imec">
            <a:extLst>
              <a:ext uri="{FF2B5EF4-FFF2-40B4-BE49-F238E27FC236}">
                <a16:creationId xmlns:a16="http://schemas.microsoft.com/office/drawing/2014/main" id="{8A3C926C-753C-7128-57E6-EE866FDB70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74"/>
          <a:stretch/>
        </p:blipFill>
        <p:spPr bwMode="auto">
          <a:xfrm>
            <a:off x="559400" y="1267872"/>
            <a:ext cx="3711279" cy="2607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32737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 amt="80000"/>
          </a:blip>
          <a:srcRect l="3361" t="8775" r="1438" b="8758"/>
          <a:stretch/>
        </p:blipFill>
        <p:spPr>
          <a:xfrm>
            <a:off x="6958450" y="655125"/>
            <a:ext cx="21855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2"/>
          <p:cNvSpPr txBox="1">
            <a:spLocks noGrp="1"/>
          </p:cNvSpPr>
          <p:nvPr>
            <p:ph type="title"/>
          </p:nvPr>
        </p:nvSpPr>
        <p:spPr>
          <a:xfrm>
            <a:off x="3650005" y="-1635469"/>
            <a:ext cx="921995" cy="514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0</a:t>
            </a: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1</a:t>
            </a: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2</a:t>
            </a: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3</a:t>
            </a:r>
            <a:endParaRPr sz="9600" dirty="0"/>
          </a:p>
        </p:txBody>
      </p:sp>
      <p:cxnSp>
        <p:nvCxnSpPr>
          <p:cNvPr id="449" name="Google Shape;449;p42"/>
          <p:cNvCxnSpPr>
            <a:cxnSpLocks/>
          </p:cNvCxnSpPr>
          <p:nvPr/>
        </p:nvCxnSpPr>
        <p:spPr>
          <a:xfrm rot="10800000">
            <a:off x="1839255" y="3585460"/>
            <a:ext cx="111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50" name="Google Shape;450;p42"/>
          <p:cNvCxnSpPr>
            <a:cxnSpLocks/>
          </p:cNvCxnSpPr>
          <p:nvPr/>
        </p:nvCxnSpPr>
        <p:spPr>
          <a:xfrm rot="10800000">
            <a:off x="6198855" y="3585460"/>
            <a:ext cx="111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451" name="Google Shape;451;p42"/>
          <p:cNvGrpSpPr/>
          <p:nvPr/>
        </p:nvGrpSpPr>
        <p:grpSpPr>
          <a:xfrm>
            <a:off x="116368" y="-7620"/>
            <a:ext cx="939849" cy="1458850"/>
            <a:chOff x="116368" y="0"/>
            <a:chExt cx="939849" cy="1458850"/>
          </a:xfrm>
        </p:grpSpPr>
        <p:pic>
          <p:nvPicPr>
            <p:cNvPr id="452" name="Google Shape;452;p42"/>
            <p:cNvPicPr preferRelativeResize="0"/>
            <p:nvPr/>
          </p:nvPicPr>
          <p:blipFill rotWithShape="1">
            <a:blip r:embed="rId4">
              <a:alphaModFix amt="83000"/>
            </a:blip>
            <a:srcRect l="5153" t="4347" r="4757" b="5269"/>
            <a:stretch/>
          </p:blipFill>
          <p:spPr>
            <a:xfrm rot="10800000">
              <a:off x="116368" y="310900"/>
              <a:ext cx="939849" cy="114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3" name="Google Shape;453;p42"/>
            <p:cNvPicPr preferRelativeResize="0"/>
            <p:nvPr/>
          </p:nvPicPr>
          <p:blipFill rotWithShape="1">
            <a:blip r:embed="rId5">
              <a:alphaModFix amt="90000"/>
            </a:blip>
            <a:srcRect l="20472" t="3388" r="50233" b="6024"/>
            <a:stretch/>
          </p:blipFill>
          <p:spPr>
            <a:xfrm>
              <a:off x="459350" y="0"/>
              <a:ext cx="253874" cy="10461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4" name="Google Shape;454;p42"/>
          <p:cNvGrpSpPr/>
          <p:nvPr/>
        </p:nvGrpSpPr>
        <p:grpSpPr>
          <a:xfrm rot="-5400000">
            <a:off x="7274486" y="3857235"/>
            <a:ext cx="2037454" cy="2321888"/>
            <a:chOff x="7228566" y="3346344"/>
            <a:chExt cx="1902384" cy="2167963"/>
          </a:xfrm>
        </p:grpSpPr>
        <p:pic>
          <p:nvPicPr>
            <p:cNvPr id="455" name="Google Shape;455;p42"/>
            <p:cNvPicPr preferRelativeResize="0"/>
            <p:nvPr/>
          </p:nvPicPr>
          <p:blipFill>
            <a:blip r:embed="rId6">
              <a:alphaModFix amt="90000"/>
            </a:blip>
            <a:stretch>
              <a:fillRect/>
            </a:stretch>
          </p:blipFill>
          <p:spPr>
            <a:xfrm>
              <a:off x="7228566" y="3693689"/>
              <a:ext cx="1809134" cy="18206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42"/>
            <p:cNvPicPr preferRelativeResize="0"/>
            <p:nvPr/>
          </p:nvPicPr>
          <p:blipFill rotWithShape="1">
            <a:blip r:embed="rId5">
              <a:alphaModFix amt="90000"/>
            </a:blip>
            <a:srcRect t="6059" r="50236"/>
            <a:stretch/>
          </p:blipFill>
          <p:spPr>
            <a:xfrm rot="5400000">
              <a:off x="8429100" y="3273725"/>
              <a:ext cx="351650" cy="1052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7" name="Google Shape;457;p42"/>
            <p:cNvPicPr preferRelativeResize="0"/>
            <p:nvPr/>
          </p:nvPicPr>
          <p:blipFill rotWithShape="1">
            <a:blip r:embed="rId7">
              <a:alphaModFix amt="81000"/>
            </a:blip>
            <a:srcRect l="8423" t="66716" r="7430" b="5258"/>
            <a:stretch/>
          </p:blipFill>
          <p:spPr>
            <a:xfrm>
              <a:off x="8004049" y="3346344"/>
              <a:ext cx="514031" cy="203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8" name="Google Shape;458;p42"/>
            <p:cNvSpPr/>
            <p:nvPr/>
          </p:nvSpPr>
          <p:spPr>
            <a:xfrm rot="10800000">
              <a:off x="8754625" y="3493125"/>
              <a:ext cx="57900" cy="1660500"/>
            </a:xfrm>
            <a:prstGeom prst="rect">
              <a:avLst/>
            </a:prstGeom>
            <a:solidFill>
              <a:srgbClr val="FFFFFF">
                <a:alpha val="68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39BBD4F6-6ACC-35E2-5ADA-30A318D7E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6703" y="3336910"/>
            <a:ext cx="3248100" cy="497100"/>
          </a:xfrm>
        </p:spPr>
        <p:txBody>
          <a:bodyPr/>
          <a:lstStyle/>
          <a:p>
            <a:r>
              <a:rPr lang="en-US" dirty="0"/>
              <a:t>Medical files for data</a:t>
            </a:r>
          </a:p>
        </p:txBody>
      </p:sp>
      <p:sp>
        <p:nvSpPr>
          <p:cNvPr id="5" name="Google Shape;447;p42">
            <a:extLst>
              <a:ext uri="{FF2B5EF4-FFF2-40B4-BE49-F238E27FC236}">
                <a16:creationId xmlns:a16="http://schemas.microsoft.com/office/drawing/2014/main" id="{2E281755-222D-CA0A-2469-957BC8B4301B}"/>
              </a:ext>
            </a:extLst>
          </p:cNvPr>
          <p:cNvSpPr txBox="1">
            <a:spLocks/>
          </p:cNvSpPr>
          <p:nvPr/>
        </p:nvSpPr>
        <p:spPr>
          <a:xfrm>
            <a:off x="4572000" y="332747"/>
            <a:ext cx="921995" cy="20688808"/>
          </a:xfrm>
          <a:prstGeom prst="rect">
            <a:avLst/>
          </a:prstGeom>
          <a:noFill/>
          <a:ln w="9525" cap="flat" cmpd="sng">
            <a:noFill/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Prompt"/>
              <a:buNone/>
              <a:defRPr sz="6000" b="1" i="0" u="none" strike="noStrike" cap="none">
                <a:solidFill>
                  <a:schemeClr val="accent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0</a:t>
            </a:r>
            <a:br>
              <a:rPr lang="en" sz="9600" dirty="0"/>
            </a:br>
            <a:endParaRPr lang="en" sz="9600" dirty="0"/>
          </a:p>
          <a:p>
            <a:br>
              <a:rPr lang="en" sz="9600" dirty="0"/>
            </a:br>
            <a:r>
              <a:rPr lang="en" sz="9600" dirty="0"/>
              <a:t>1</a:t>
            </a:r>
          </a:p>
          <a:p>
            <a:br>
              <a:rPr lang="en" sz="9600" dirty="0"/>
            </a:br>
            <a:br>
              <a:rPr lang="en" sz="9600" dirty="0"/>
            </a:br>
            <a:r>
              <a:rPr lang="en" sz="9600" dirty="0"/>
              <a:t>0</a:t>
            </a:r>
          </a:p>
          <a:p>
            <a:br>
              <a:rPr lang="en" sz="9600" dirty="0"/>
            </a:br>
            <a:br>
              <a:rPr lang="en" sz="9600" dirty="0"/>
            </a:br>
            <a:r>
              <a:rPr lang="en" sz="9600" dirty="0"/>
              <a:t>3</a:t>
            </a:r>
          </a:p>
          <a:p>
            <a:endParaRPr lang="en" sz="9600" dirty="0"/>
          </a:p>
          <a:p>
            <a:endParaRPr lang="en" sz="9600" dirty="0"/>
          </a:p>
          <a:p>
            <a:r>
              <a:rPr lang="en" sz="9600" dirty="0"/>
              <a:t>4</a:t>
            </a:r>
          </a:p>
          <a:p>
            <a:endParaRPr lang="en" sz="9600" dirty="0"/>
          </a:p>
          <a:p>
            <a:endParaRPr lang="en" sz="9600" dirty="0"/>
          </a:p>
          <a:p>
            <a:r>
              <a:rPr lang="en" sz="9600" dirty="0"/>
              <a:t>5</a:t>
            </a:r>
          </a:p>
          <a:p>
            <a:endParaRPr lang="en" sz="9600" dirty="0"/>
          </a:p>
          <a:p>
            <a:endParaRPr lang="en" sz="9600" dirty="0"/>
          </a:p>
          <a:p>
            <a:r>
              <a:rPr lang="en" sz="9600" dirty="0"/>
              <a:t>6</a:t>
            </a:r>
          </a:p>
        </p:txBody>
      </p:sp>
      <p:sp>
        <p:nvSpPr>
          <p:cNvPr id="6" name="Google Shape;447;p42">
            <a:extLst>
              <a:ext uri="{FF2B5EF4-FFF2-40B4-BE49-F238E27FC236}">
                <a16:creationId xmlns:a16="http://schemas.microsoft.com/office/drawing/2014/main" id="{6CCA2801-F2D4-FA6A-B7A4-77CBAD4AAFFC}"/>
              </a:ext>
            </a:extLst>
          </p:cNvPr>
          <p:cNvSpPr txBox="1">
            <a:spLocks/>
          </p:cNvSpPr>
          <p:nvPr/>
        </p:nvSpPr>
        <p:spPr>
          <a:xfrm>
            <a:off x="5588047" y="411995"/>
            <a:ext cx="921995" cy="20688808"/>
          </a:xfrm>
          <a:prstGeom prst="rect">
            <a:avLst/>
          </a:prstGeom>
          <a:noFill/>
          <a:ln w="9525" cap="flat" cmpd="sng">
            <a:noFill/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Prompt"/>
              <a:buNone/>
              <a:defRPr sz="6000" b="1" i="0" u="none" strike="noStrike" cap="none">
                <a:solidFill>
                  <a:schemeClr val="accent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0</a:t>
            </a:r>
            <a:br>
              <a:rPr lang="en" sz="9600" dirty="0"/>
            </a:br>
            <a:endParaRPr lang="en" sz="9600" dirty="0"/>
          </a:p>
          <a:p>
            <a:br>
              <a:rPr lang="en" sz="9600" dirty="0"/>
            </a:br>
            <a:r>
              <a:rPr lang="en" sz="9600" dirty="0"/>
              <a:t>1</a:t>
            </a:r>
          </a:p>
          <a:p>
            <a:br>
              <a:rPr lang="en" sz="9600" dirty="0"/>
            </a:br>
            <a:br>
              <a:rPr lang="en" sz="9600" dirty="0"/>
            </a:br>
            <a:r>
              <a:rPr lang="en" sz="9600" dirty="0"/>
              <a:t>+</a:t>
            </a:r>
          </a:p>
          <a:p>
            <a:br>
              <a:rPr lang="en" sz="9600" dirty="0"/>
            </a:br>
            <a:br>
              <a:rPr lang="en" sz="9600" dirty="0"/>
            </a:br>
            <a:r>
              <a:rPr lang="en" sz="9600" dirty="0"/>
              <a:t>3</a:t>
            </a:r>
          </a:p>
          <a:p>
            <a:endParaRPr lang="en" sz="9600" dirty="0"/>
          </a:p>
          <a:p>
            <a:endParaRPr lang="en" sz="9600" dirty="0"/>
          </a:p>
          <a:p>
            <a:r>
              <a:rPr lang="en" sz="9600" dirty="0"/>
              <a:t>4</a:t>
            </a:r>
          </a:p>
          <a:p>
            <a:endParaRPr lang="en" sz="9600" dirty="0"/>
          </a:p>
          <a:p>
            <a:endParaRPr lang="en" sz="9600" dirty="0"/>
          </a:p>
          <a:p>
            <a:r>
              <a:rPr lang="en" sz="9600" dirty="0"/>
              <a:t>5</a:t>
            </a:r>
          </a:p>
          <a:p>
            <a:endParaRPr lang="en" sz="9600" dirty="0"/>
          </a:p>
          <a:p>
            <a:endParaRPr lang="en" sz="9600" dirty="0"/>
          </a:p>
          <a:p>
            <a:r>
              <a:rPr lang="en" sz="9600" dirty="0"/>
              <a:t>6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 amt="80000"/>
          </a:blip>
          <a:srcRect l="3361" t="8775" r="1438" b="8758"/>
          <a:stretch/>
        </p:blipFill>
        <p:spPr>
          <a:xfrm>
            <a:off x="6958450" y="655125"/>
            <a:ext cx="21855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2"/>
          <p:cNvSpPr txBox="1">
            <a:spLocks noGrp="1"/>
          </p:cNvSpPr>
          <p:nvPr>
            <p:ph type="title"/>
          </p:nvPr>
        </p:nvSpPr>
        <p:spPr>
          <a:xfrm>
            <a:off x="3651353" y="1907177"/>
            <a:ext cx="921995" cy="10376539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0</a:t>
            </a: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1</a:t>
            </a: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2</a:t>
            </a: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3</a:t>
            </a:r>
            <a:endParaRPr sz="9600" dirty="0"/>
          </a:p>
        </p:txBody>
      </p:sp>
      <p:cxnSp>
        <p:nvCxnSpPr>
          <p:cNvPr id="449" name="Google Shape;449;p42"/>
          <p:cNvCxnSpPr>
            <a:cxnSpLocks/>
          </p:cNvCxnSpPr>
          <p:nvPr/>
        </p:nvCxnSpPr>
        <p:spPr>
          <a:xfrm rot="10800000">
            <a:off x="1839255" y="3585460"/>
            <a:ext cx="111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50" name="Google Shape;450;p42"/>
          <p:cNvCxnSpPr>
            <a:cxnSpLocks/>
          </p:cNvCxnSpPr>
          <p:nvPr/>
        </p:nvCxnSpPr>
        <p:spPr>
          <a:xfrm rot="10800000">
            <a:off x="6198855" y="3585460"/>
            <a:ext cx="111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451" name="Google Shape;451;p42"/>
          <p:cNvGrpSpPr/>
          <p:nvPr/>
        </p:nvGrpSpPr>
        <p:grpSpPr>
          <a:xfrm>
            <a:off x="116368" y="-7620"/>
            <a:ext cx="939849" cy="1458850"/>
            <a:chOff x="116368" y="0"/>
            <a:chExt cx="939849" cy="1458850"/>
          </a:xfrm>
        </p:grpSpPr>
        <p:pic>
          <p:nvPicPr>
            <p:cNvPr id="452" name="Google Shape;452;p42"/>
            <p:cNvPicPr preferRelativeResize="0"/>
            <p:nvPr/>
          </p:nvPicPr>
          <p:blipFill rotWithShape="1">
            <a:blip r:embed="rId4">
              <a:alphaModFix amt="83000"/>
            </a:blip>
            <a:srcRect l="5153" t="4347" r="4757" b="5269"/>
            <a:stretch/>
          </p:blipFill>
          <p:spPr>
            <a:xfrm rot="10800000">
              <a:off x="116368" y="310900"/>
              <a:ext cx="939849" cy="114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3" name="Google Shape;453;p42"/>
            <p:cNvPicPr preferRelativeResize="0"/>
            <p:nvPr/>
          </p:nvPicPr>
          <p:blipFill rotWithShape="1">
            <a:blip r:embed="rId5">
              <a:alphaModFix amt="90000"/>
            </a:blip>
            <a:srcRect l="20472" t="3388" r="50233" b="6024"/>
            <a:stretch/>
          </p:blipFill>
          <p:spPr>
            <a:xfrm>
              <a:off x="459350" y="0"/>
              <a:ext cx="253874" cy="10461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4" name="Google Shape;454;p42"/>
          <p:cNvGrpSpPr/>
          <p:nvPr/>
        </p:nvGrpSpPr>
        <p:grpSpPr>
          <a:xfrm rot="-5400000">
            <a:off x="7274486" y="3857235"/>
            <a:ext cx="2037454" cy="2321888"/>
            <a:chOff x="7228566" y="3346344"/>
            <a:chExt cx="1902384" cy="2167963"/>
          </a:xfrm>
        </p:grpSpPr>
        <p:pic>
          <p:nvPicPr>
            <p:cNvPr id="455" name="Google Shape;455;p42"/>
            <p:cNvPicPr preferRelativeResize="0"/>
            <p:nvPr/>
          </p:nvPicPr>
          <p:blipFill>
            <a:blip r:embed="rId6">
              <a:alphaModFix amt="90000"/>
            </a:blip>
            <a:stretch>
              <a:fillRect/>
            </a:stretch>
          </p:blipFill>
          <p:spPr>
            <a:xfrm>
              <a:off x="7228566" y="3693689"/>
              <a:ext cx="1809134" cy="18206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42"/>
            <p:cNvPicPr preferRelativeResize="0"/>
            <p:nvPr/>
          </p:nvPicPr>
          <p:blipFill rotWithShape="1">
            <a:blip r:embed="rId5">
              <a:alphaModFix amt="90000"/>
            </a:blip>
            <a:srcRect t="6059" r="50236"/>
            <a:stretch/>
          </p:blipFill>
          <p:spPr>
            <a:xfrm rot="5400000">
              <a:off x="8429100" y="3273725"/>
              <a:ext cx="351650" cy="1052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7" name="Google Shape;457;p42"/>
            <p:cNvPicPr preferRelativeResize="0"/>
            <p:nvPr/>
          </p:nvPicPr>
          <p:blipFill rotWithShape="1">
            <a:blip r:embed="rId7">
              <a:alphaModFix amt="81000"/>
            </a:blip>
            <a:srcRect l="8423" t="66716" r="7430" b="5258"/>
            <a:stretch/>
          </p:blipFill>
          <p:spPr>
            <a:xfrm>
              <a:off x="8004049" y="3346344"/>
              <a:ext cx="514031" cy="203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8" name="Google Shape;458;p42"/>
            <p:cNvSpPr/>
            <p:nvPr/>
          </p:nvSpPr>
          <p:spPr>
            <a:xfrm rot="10800000">
              <a:off x="8754625" y="3493125"/>
              <a:ext cx="57900" cy="1660500"/>
            </a:xfrm>
            <a:prstGeom prst="rect">
              <a:avLst/>
            </a:prstGeom>
            <a:solidFill>
              <a:srgbClr val="FFFFFF">
                <a:alpha val="68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39BBD4F6-6ACC-35E2-5ADA-30A318D7E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0755" y="3336910"/>
            <a:ext cx="3248100" cy="497100"/>
          </a:xfrm>
        </p:spPr>
        <p:txBody>
          <a:bodyPr/>
          <a:lstStyle/>
          <a:p>
            <a:r>
              <a:rPr lang="en-US" dirty="0"/>
              <a:t>Variables considered</a:t>
            </a:r>
          </a:p>
        </p:txBody>
      </p:sp>
      <p:sp>
        <p:nvSpPr>
          <p:cNvPr id="5" name="Google Shape;447;p42">
            <a:extLst>
              <a:ext uri="{FF2B5EF4-FFF2-40B4-BE49-F238E27FC236}">
                <a16:creationId xmlns:a16="http://schemas.microsoft.com/office/drawing/2014/main" id="{2E281755-222D-CA0A-2469-957BC8B4301B}"/>
              </a:ext>
            </a:extLst>
          </p:cNvPr>
          <p:cNvSpPr txBox="1">
            <a:spLocks/>
          </p:cNvSpPr>
          <p:nvPr/>
        </p:nvSpPr>
        <p:spPr>
          <a:xfrm>
            <a:off x="4572000" y="-17172560"/>
            <a:ext cx="921995" cy="20688808"/>
          </a:xfrm>
          <a:prstGeom prst="rect">
            <a:avLst/>
          </a:prstGeom>
          <a:noFill/>
          <a:ln w="9525" cap="flat" cmpd="sng">
            <a:noFill/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Prompt"/>
              <a:buNone/>
              <a:defRPr sz="6000" b="1" i="0" u="none" strike="noStrike" cap="none">
                <a:solidFill>
                  <a:schemeClr val="accent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0</a:t>
            </a:r>
            <a:br>
              <a:rPr lang="en" sz="9600" dirty="0"/>
            </a:br>
            <a:endParaRPr lang="en" sz="9600" dirty="0"/>
          </a:p>
          <a:p>
            <a:br>
              <a:rPr lang="en" sz="9600" dirty="0"/>
            </a:br>
            <a:r>
              <a:rPr lang="en" sz="9600" dirty="0"/>
              <a:t>1</a:t>
            </a:r>
          </a:p>
          <a:p>
            <a:br>
              <a:rPr lang="en" sz="9600" dirty="0"/>
            </a:br>
            <a:br>
              <a:rPr lang="en" sz="9600" dirty="0"/>
            </a:br>
            <a:r>
              <a:rPr lang="en" sz="9600" dirty="0"/>
              <a:t>2</a:t>
            </a:r>
          </a:p>
          <a:p>
            <a:br>
              <a:rPr lang="en" sz="9600" dirty="0"/>
            </a:br>
            <a:br>
              <a:rPr lang="en" sz="9600" dirty="0"/>
            </a:br>
            <a:r>
              <a:rPr lang="en" sz="9600" dirty="0"/>
              <a:t>3</a:t>
            </a:r>
          </a:p>
          <a:p>
            <a:endParaRPr lang="en" sz="9600" dirty="0"/>
          </a:p>
          <a:p>
            <a:endParaRPr lang="en" sz="9600" dirty="0"/>
          </a:p>
          <a:p>
            <a:r>
              <a:rPr lang="en" sz="9600" dirty="0"/>
              <a:t>4</a:t>
            </a:r>
          </a:p>
          <a:p>
            <a:endParaRPr lang="en" sz="9600" dirty="0"/>
          </a:p>
          <a:p>
            <a:endParaRPr lang="en" sz="9600" dirty="0"/>
          </a:p>
          <a:p>
            <a:r>
              <a:rPr lang="en" sz="9600" dirty="0"/>
              <a:t>5</a:t>
            </a:r>
          </a:p>
          <a:p>
            <a:endParaRPr lang="en" sz="9600" dirty="0"/>
          </a:p>
          <a:p>
            <a:endParaRPr lang="en" sz="9600" dirty="0"/>
          </a:p>
          <a:p>
            <a:r>
              <a:rPr lang="en" sz="96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8633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 amt="80000"/>
          </a:blip>
          <a:srcRect l="3361" t="8775" r="1438" b="8758"/>
          <a:stretch/>
        </p:blipFill>
        <p:spPr>
          <a:xfrm>
            <a:off x="6958450" y="655125"/>
            <a:ext cx="21855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2"/>
          <p:cNvSpPr txBox="1">
            <a:spLocks noGrp="1"/>
          </p:cNvSpPr>
          <p:nvPr>
            <p:ph type="title"/>
          </p:nvPr>
        </p:nvSpPr>
        <p:spPr>
          <a:xfrm>
            <a:off x="3650005" y="4562825"/>
            <a:ext cx="921995" cy="12090386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0</a:t>
            </a: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1</a:t>
            </a: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2</a:t>
            </a: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3</a:t>
            </a:r>
            <a:endParaRPr sz="9600" dirty="0"/>
          </a:p>
        </p:txBody>
      </p:sp>
      <p:cxnSp>
        <p:nvCxnSpPr>
          <p:cNvPr id="449" name="Google Shape;449;p42"/>
          <p:cNvCxnSpPr>
            <a:cxnSpLocks/>
          </p:cNvCxnSpPr>
          <p:nvPr/>
        </p:nvCxnSpPr>
        <p:spPr>
          <a:xfrm rot="10800000">
            <a:off x="1839255" y="3585460"/>
            <a:ext cx="111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50" name="Google Shape;450;p42"/>
          <p:cNvCxnSpPr>
            <a:cxnSpLocks/>
          </p:cNvCxnSpPr>
          <p:nvPr/>
        </p:nvCxnSpPr>
        <p:spPr>
          <a:xfrm rot="10800000">
            <a:off x="6198855" y="3585460"/>
            <a:ext cx="111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451" name="Google Shape;451;p42"/>
          <p:cNvGrpSpPr/>
          <p:nvPr/>
        </p:nvGrpSpPr>
        <p:grpSpPr>
          <a:xfrm>
            <a:off x="116368" y="-7620"/>
            <a:ext cx="939849" cy="1458850"/>
            <a:chOff x="116368" y="0"/>
            <a:chExt cx="939849" cy="1458850"/>
          </a:xfrm>
        </p:grpSpPr>
        <p:pic>
          <p:nvPicPr>
            <p:cNvPr id="452" name="Google Shape;452;p42"/>
            <p:cNvPicPr preferRelativeResize="0"/>
            <p:nvPr/>
          </p:nvPicPr>
          <p:blipFill rotWithShape="1">
            <a:blip r:embed="rId4">
              <a:alphaModFix amt="83000"/>
            </a:blip>
            <a:srcRect l="5153" t="4347" r="4757" b="5269"/>
            <a:stretch/>
          </p:blipFill>
          <p:spPr>
            <a:xfrm rot="10800000">
              <a:off x="116368" y="310900"/>
              <a:ext cx="939849" cy="114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3" name="Google Shape;453;p42"/>
            <p:cNvPicPr preferRelativeResize="0"/>
            <p:nvPr/>
          </p:nvPicPr>
          <p:blipFill rotWithShape="1">
            <a:blip r:embed="rId5">
              <a:alphaModFix amt="90000"/>
            </a:blip>
            <a:srcRect l="20472" t="3388" r="50233" b="6024"/>
            <a:stretch/>
          </p:blipFill>
          <p:spPr>
            <a:xfrm>
              <a:off x="459350" y="0"/>
              <a:ext cx="253874" cy="10461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4" name="Google Shape;454;p42"/>
          <p:cNvGrpSpPr/>
          <p:nvPr/>
        </p:nvGrpSpPr>
        <p:grpSpPr>
          <a:xfrm rot="-5400000">
            <a:off x="7274486" y="3857235"/>
            <a:ext cx="2037454" cy="2321888"/>
            <a:chOff x="7228566" y="3346344"/>
            <a:chExt cx="1902384" cy="2167963"/>
          </a:xfrm>
        </p:grpSpPr>
        <p:pic>
          <p:nvPicPr>
            <p:cNvPr id="455" name="Google Shape;455;p42"/>
            <p:cNvPicPr preferRelativeResize="0"/>
            <p:nvPr/>
          </p:nvPicPr>
          <p:blipFill>
            <a:blip r:embed="rId6">
              <a:alphaModFix amt="90000"/>
            </a:blip>
            <a:stretch>
              <a:fillRect/>
            </a:stretch>
          </p:blipFill>
          <p:spPr>
            <a:xfrm>
              <a:off x="7228566" y="3693689"/>
              <a:ext cx="1809134" cy="18206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42"/>
            <p:cNvPicPr preferRelativeResize="0"/>
            <p:nvPr/>
          </p:nvPicPr>
          <p:blipFill rotWithShape="1">
            <a:blip r:embed="rId5">
              <a:alphaModFix amt="90000"/>
            </a:blip>
            <a:srcRect t="6059" r="50236"/>
            <a:stretch/>
          </p:blipFill>
          <p:spPr>
            <a:xfrm rot="5400000">
              <a:off x="8429100" y="3273725"/>
              <a:ext cx="351650" cy="1052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7" name="Google Shape;457;p42"/>
            <p:cNvPicPr preferRelativeResize="0"/>
            <p:nvPr/>
          </p:nvPicPr>
          <p:blipFill rotWithShape="1">
            <a:blip r:embed="rId7">
              <a:alphaModFix amt="81000"/>
            </a:blip>
            <a:srcRect l="8423" t="66716" r="7430" b="5258"/>
            <a:stretch/>
          </p:blipFill>
          <p:spPr>
            <a:xfrm>
              <a:off x="8004049" y="3346344"/>
              <a:ext cx="514031" cy="203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8" name="Google Shape;458;p42"/>
            <p:cNvSpPr/>
            <p:nvPr/>
          </p:nvSpPr>
          <p:spPr>
            <a:xfrm rot="10800000">
              <a:off x="8754625" y="3493125"/>
              <a:ext cx="57900" cy="1660500"/>
            </a:xfrm>
            <a:prstGeom prst="rect">
              <a:avLst/>
            </a:prstGeom>
            <a:solidFill>
              <a:srgbClr val="FFFFFF">
                <a:alpha val="68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39BBD4F6-6ACC-35E2-5ADA-30A318D7E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4902" y="3336910"/>
            <a:ext cx="3248100" cy="497100"/>
          </a:xfrm>
        </p:spPr>
        <p:txBody>
          <a:bodyPr/>
          <a:lstStyle/>
          <a:p>
            <a:r>
              <a:rPr lang="en-US" dirty="0"/>
              <a:t>Output table</a:t>
            </a:r>
          </a:p>
        </p:txBody>
      </p:sp>
      <p:sp>
        <p:nvSpPr>
          <p:cNvPr id="5" name="Google Shape;447;p42">
            <a:extLst>
              <a:ext uri="{FF2B5EF4-FFF2-40B4-BE49-F238E27FC236}">
                <a16:creationId xmlns:a16="http://schemas.microsoft.com/office/drawing/2014/main" id="{2E281755-222D-CA0A-2469-957BC8B4301B}"/>
              </a:ext>
            </a:extLst>
          </p:cNvPr>
          <p:cNvSpPr txBox="1">
            <a:spLocks/>
          </p:cNvSpPr>
          <p:nvPr/>
        </p:nvSpPr>
        <p:spPr>
          <a:xfrm>
            <a:off x="4566876" y="2011681"/>
            <a:ext cx="921995" cy="23425765"/>
          </a:xfrm>
          <a:prstGeom prst="rect">
            <a:avLst/>
          </a:prstGeom>
          <a:noFill/>
          <a:ln w="9525" cap="flat" cmpd="sng">
            <a:noFill/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Prompt"/>
              <a:buNone/>
              <a:defRPr sz="6000" b="1" i="0" u="none" strike="noStrike" cap="none">
                <a:solidFill>
                  <a:schemeClr val="accent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br>
              <a:rPr lang="en" sz="9600" dirty="0"/>
            </a:br>
            <a:r>
              <a:rPr lang="en" sz="9600" dirty="0"/>
              <a:t>0</a:t>
            </a:r>
            <a:br>
              <a:rPr lang="en" sz="9600" dirty="0"/>
            </a:br>
            <a:endParaRPr lang="en" sz="9600" dirty="0"/>
          </a:p>
          <a:p>
            <a:br>
              <a:rPr lang="en" sz="9600" dirty="0"/>
            </a:br>
            <a:r>
              <a:rPr lang="en" sz="9600" dirty="0"/>
              <a:t>1</a:t>
            </a:r>
          </a:p>
          <a:p>
            <a:br>
              <a:rPr lang="en" sz="9600" dirty="0"/>
            </a:br>
            <a:br>
              <a:rPr lang="en" sz="9600" dirty="0"/>
            </a:br>
            <a:r>
              <a:rPr lang="en" sz="9600" dirty="0"/>
              <a:t>2</a:t>
            </a:r>
          </a:p>
          <a:p>
            <a:br>
              <a:rPr lang="en" sz="9600" dirty="0"/>
            </a:br>
            <a:br>
              <a:rPr lang="en" sz="9600" dirty="0"/>
            </a:br>
            <a:r>
              <a:rPr lang="en" sz="9600" dirty="0"/>
              <a:t>3</a:t>
            </a:r>
          </a:p>
          <a:p>
            <a:endParaRPr lang="en" sz="9600" dirty="0"/>
          </a:p>
          <a:p>
            <a:endParaRPr lang="en" sz="9600" dirty="0"/>
          </a:p>
          <a:p>
            <a:r>
              <a:rPr lang="en" sz="9600" dirty="0"/>
              <a:t>4</a:t>
            </a:r>
          </a:p>
          <a:p>
            <a:endParaRPr lang="en" sz="9600" dirty="0"/>
          </a:p>
          <a:p>
            <a:endParaRPr lang="en" sz="9600" dirty="0"/>
          </a:p>
          <a:p>
            <a:r>
              <a:rPr lang="en" sz="9600" dirty="0"/>
              <a:t>5</a:t>
            </a:r>
          </a:p>
          <a:p>
            <a:endParaRPr lang="en" sz="9600" dirty="0"/>
          </a:p>
          <a:p>
            <a:endParaRPr lang="en" sz="9600" dirty="0"/>
          </a:p>
          <a:p>
            <a:r>
              <a:rPr lang="en" sz="96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13657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D0CA1AE-E8F2-1C1E-9EF9-AB5706678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603" y="456819"/>
            <a:ext cx="6344793" cy="422986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>
            <a:spLocks noGrp="1"/>
          </p:cNvSpPr>
          <p:nvPr>
            <p:ph type="title"/>
          </p:nvPr>
        </p:nvSpPr>
        <p:spPr>
          <a:xfrm>
            <a:off x="720000" y="6160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PDF Extraction</a:t>
            </a:r>
            <a:endParaRPr dirty="0"/>
          </a:p>
        </p:txBody>
      </p:sp>
      <p:sp>
        <p:nvSpPr>
          <p:cNvPr id="6" name="Google Shape;366;p37">
            <a:extLst>
              <a:ext uri="{FF2B5EF4-FFF2-40B4-BE49-F238E27FC236}">
                <a16:creationId xmlns:a16="http://schemas.microsoft.com/office/drawing/2014/main" id="{061C7F9F-1E10-D62F-307A-72079DA350A1}"/>
              </a:ext>
            </a:extLst>
          </p:cNvPr>
          <p:cNvSpPr txBox="1">
            <a:spLocks/>
          </p:cNvSpPr>
          <p:nvPr/>
        </p:nvSpPr>
        <p:spPr>
          <a:xfrm>
            <a:off x="720000" y="1188720"/>
            <a:ext cx="7704000" cy="332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1" i="0" u="none" strike="noStrike" cap="none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Geneva" panose="020B0503030404040204" pitchFamily="34" charset="0"/>
                <a:cs typeface="Times New Roman" panose="02020603050405020304" pitchFamily="18" charset="0"/>
              </a:rPr>
              <a:t>Objective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effectLst/>
              <a:latin typeface="Galvji" panose="020B0504020202020204" pitchFamily="34" charset="77"/>
              <a:ea typeface="Geneva" panose="020B050303040404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Geneva" panose="020B0503030404040204" pitchFamily="34" charset="0"/>
                <a:cs typeface="Times New Roman" panose="02020603050405020304" pitchFamily="18" charset="0"/>
              </a:rPr>
              <a:t>• Convert raw medical research PDFs into machine-readable text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Geneva" panose="020B050303040404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Geneva" panose="020B0503030404040204" pitchFamily="34" charset="0"/>
                <a:cs typeface="Times New Roman" panose="02020603050405020304" pitchFamily="18" charset="0"/>
              </a:rPr>
              <a:t>What I Built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effectLst/>
              <a:latin typeface="Galvji" panose="020B0504020202020204" pitchFamily="34" charset="77"/>
              <a:ea typeface="Geneva" panose="020B050303040404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Geneva" panose="020B0503030404040204" pitchFamily="34" charset="0"/>
                <a:cs typeface="Times New Roman" panose="02020603050405020304" pitchFamily="18" charset="0"/>
              </a:rPr>
              <a:t>• Automated PDF ingestion pipeline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Geneva" panose="020B0503030404040204" pitchFamily="34" charset="0"/>
                <a:cs typeface="Times New Roman" panose="02020603050405020304" pitchFamily="18" charset="0"/>
              </a:rPr>
              <a:t>• Extracted text using </a:t>
            </a:r>
            <a:r>
              <a:rPr lang="en-US" sz="1400" kern="100" dirty="0" err="1">
                <a:effectLst/>
                <a:latin typeface="Galvji" panose="020B0504020202020204" pitchFamily="34" charset="77"/>
                <a:ea typeface="Geneva" panose="020B0503030404040204" pitchFamily="34" charset="0"/>
                <a:cs typeface="Times New Roman" panose="02020603050405020304" pitchFamily="18" charset="0"/>
              </a:rPr>
              <a:t>PyMuPDF</a:t>
            </a:r>
            <a:endParaRPr lang="en-US" sz="1400" kern="100" dirty="0">
              <a:effectLst/>
              <a:latin typeface="Galvji" panose="020B0504020202020204" pitchFamily="34" charset="77"/>
              <a:ea typeface="Geneva" panose="020B050303040404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Geneva" panose="020B0503030404040204" pitchFamily="34" charset="0"/>
                <a:cs typeface="Times New Roman" panose="02020603050405020304" pitchFamily="18" charset="0"/>
              </a:rPr>
              <a:t>• Processed multiple sepsis research papers automatically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Geneva" panose="020B050303040404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Geneva" panose="020B0503030404040204" pitchFamily="34" charset="0"/>
                <a:cs typeface="Times New Roman" panose="02020603050405020304" pitchFamily="18" charset="0"/>
              </a:rPr>
              <a:t>Why It Matters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effectLst/>
              <a:latin typeface="Galvji" panose="020B0504020202020204" pitchFamily="34" charset="77"/>
              <a:ea typeface="Geneva" panose="020B050303040404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Geneva" panose="020B0503030404040204" pitchFamily="34" charset="0"/>
                <a:cs typeface="Times New Roman" panose="02020603050405020304" pitchFamily="18" charset="0"/>
              </a:rPr>
              <a:t>• Research PDFs are unstructured and difficult for AI systems to process directly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Geneva" panose="020B0503030404040204" pitchFamily="34" charset="0"/>
                <a:cs typeface="Times New Roman" panose="02020603050405020304" pitchFamily="18" charset="0"/>
              </a:rPr>
              <a:t>• This converts: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Geneva" panose="020B0503030404040204" pitchFamily="34" charset="0"/>
                <a:cs typeface="Times New Roman" panose="02020603050405020304" pitchFamily="18" charset="0"/>
              </a:rPr>
              <a:t>  Research PDFs → Raw Text</a:t>
            </a:r>
          </a:p>
        </p:txBody>
      </p:sp>
    </p:spTree>
    <p:extLst>
      <p:ext uri="{BB962C8B-B14F-4D97-AF65-F5344CB8AC3E}">
        <p14:creationId xmlns:p14="http://schemas.microsoft.com/office/powerpoint/2010/main" val="277002924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>
            <a:spLocks noGrp="1"/>
          </p:cNvSpPr>
          <p:nvPr>
            <p:ph type="title"/>
          </p:nvPr>
        </p:nvSpPr>
        <p:spPr>
          <a:xfrm>
            <a:off x="720000" y="71925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Text Cleaning &amp; Normalization</a:t>
            </a:r>
            <a:endParaRPr dirty="0"/>
          </a:p>
        </p:txBody>
      </p:sp>
      <p:sp>
        <p:nvSpPr>
          <p:cNvPr id="6" name="Google Shape;366;p37">
            <a:extLst>
              <a:ext uri="{FF2B5EF4-FFF2-40B4-BE49-F238E27FC236}">
                <a16:creationId xmlns:a16="http://schemas.microsoft.com/office/drawing/2014/main" id="{061C7F9F-1E10-D62F-307A-72079DA350A1}"/>
              </a:ext>
            </a:extLst>
          </p:cNvPr>
          <p:cNvSpPr txBox="1">
            <a:spLocks/>
          </p:cNvSpPr>
          <p:nvPr/>
        </p:nvSpPr>
        <p:spPr>
          <a:xfrm>
            <a:off x="720000" y="1316736"/>
            <a:ext cx="7704000" cy="3107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1" i="0" u="none" strike="noStrike" cap="none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roblem: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effectLst/>
              <a:latin typeface="Galvji" panose="020B050402020202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• Raw PDF text contains: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  - broken lines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  - spacing issues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  - formatting noise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What I Built: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effectLst/>
              <a:latin typeface="Galvji" panose="020B050402020202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• Automated cleaning pipeline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• Removed broken line breaks and duplicate spaces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• Normalized text into AI-readable format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Why It Matters: LLMs perform better on clean and continuous text</a:t>
            </a:r>
          </a:p>
        </p:txBody>
      </p:sp>
    </p:spTree>
    <p:extLst>
      <p:ext uri="{BB962C8B-B14F-4D97-AF65-F5344CB8AC3E}">
        <p14:creationId xmlns:p14="http://schemas.microsoft.com/office/powerpoint/2010/main" val="421919685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>
            <a:spLocks noGrp="1"/>
          </p:cNvSpPr>
          <p:nvPr>
            <p:ph type="title"/>
          </p:nvPr>
        </p:nvSpPr>
        <p:spPr>
          <a:xfrm>
            <a:off x="720000" y="78335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Chunk Generation Pipeline</a:t>
            </a:r>
            <a:endParaRPr dirty="0"/>
          </a:p>
        </p:txBody>
      </p:sp>
      <p:sp>
        <p:nvSpPr>
          <p:cNvPr id="6" name="Google Shape;366;p37">
            <a:extLst>
              <a:ext uri="{FF2B5EF4-FFF2-40B4-BE49-F238E27FC236}">
                <a16:creationId xmlns:a16="http://schemas.microsoft.com/office/drawing/2014/main" id="{061C7F9F-1E10-D62F-307A-72079DA350A1}"/>
              </a:ext>
            </a:extLst>
          </p:cNvPr>
          <p:cNvSpPr txBox="1">
            <a:spLocks/>
          </p:cNvSpPr>
          <p:nvPr/>
        </p:nvSpPr>
        <p:spPr>
          <a:xfrm>
            <a:off x="720000" y="1481236"/>
            <a:ext cx="7704000" cy="287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1" i="0" u="none" strike="noStrike" cap="none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Problem: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effectLst/>
              <a:latin typeface="Galvji" panose="020B050402020202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• LLMs cannot efficiently process very large medical papers at once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effectLst/>
              <a:latin typeface="Galvji" panose="020B050402020202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What I Built: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effectLst/>
              <a:latin typeface="Galvji" panose="020B050402020202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• Split cleaned papers into AI-processable chunks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• Created structured chunk format with: paper name, chunk ID, text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effectLst/>
              <a:latin typeface="Galvji" panose="020B050402020202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Why It Matters: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effectLst/>
              <a:latin typeface="Galvji" panose="020B050402020202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• Enables scalable AI processing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• Enables source traceability</a:t>
            </a:r>
          </a:p>
        </p:txBody>
      </p:sp>
    </p:spTree>
    <p:extLst>
      <p:ext uri="{BB962C8B-B14F-4D97-AF65-F5344CB8AC3E}">
        <p14:creationId xmlns:p14="http://schemas.microsoft.com/office/powerpoint/2010/main" val="233685609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>
            <a:spLocks noGrp="1"/>
          </p:cNvSpPr>
          <p:nvPr>
            <p:ph type="title"/>
          </p:nvPr>
        </p:nvSpPr>
        <p:spPr>
          <a:xfrm>
            <a:off x="720000" y="9479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Multi-PDF Automation System</a:t>
            </a:r>
          </a:p>
        </p:txBody>
      </p:sp>
      <p:sp>
        <p:nvSpPr>
          <p:cNvPr id="6" name="Google Shape;366;p37">
            <a:extLst>
              <a:ext uri="{FF2B5EF4-FFF2-40B4-BE49-F238E27FC236}">
                <a16:creationId xmlns:a16="http://schemas.microsoft.com/office/drawing/2014/main" id="{061C7F9F-1E10-D62F-307A-72079DA350A1}"/>
              </a:ext>
            </a:extLst>
          </p:cNvPr>
          <p:cNvSpPr txBox="1">
            <a:spLocks/>
          </p:cNvSpPr>
          <p:nvPr/>
        </p:nvSpPr>
        <p:spPr>
          <a:xfrm>
            <a:off x="720000" y="1703525"/>
            <a:ext cx="7704000" cy="249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1" i="0" u="none" strike="noStrike" cap="none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Initial Prototype: Pipeline first tested on a single PDF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effectLst/>
              <a:latin typeface="Galvji" panose="020B050402020202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What I Improved: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effectLst/>
              <a:latin typeface="Galvji" panose="020B050402020202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• Scaled into fully automated multi-document processing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• Automatically extracts, cleans, chunks, and saves outputs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effectLst/>
              <a:latin typeface="Galvji" panose="020B050402020202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Why It Matters: Transformed the project from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manual workflow → scalable AI infrastructure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latin typeface="Galvji" panose="020B050402020202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Galvji" panose="020B050402020202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Result: Processed 30+ medical research papers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148393467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>
            <a:spLocks noGrp="1"/>
          </p:cNvSpPr>
          <p:nvPr>
            <p:ph type="title"/>
          </p:nvPr>
        </p:nvSpPr>
        <p:spPr>
          <a:xfrm>
            <a:off x="720000" y="57294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LLM Layer</a:t>
            </a:r>
            <a:endParaRPr dirty="0"/>
          </a:p>
        </p:txBody>
      </p:sp>
      <p:sp>
        <p:nvSpPr>
          <p:cNvPr id="6" name="Google Shape;366;p37">
            <a:extLst>
              <a:ext uri="{FF2B5EF4-FFF2-40B4-BE49-F238E27FC236}">
                <a16:creationId xmlns:a16="http://schemas.microsoft.com/office/drawing/2014/main" id="{061C7F9F-1E10-D62F-307A-72079DA350A1}"/>
              </a:ext>
            </a:extLst>
          </p:cNvPr>
          <p:cNvSpPr txBox="1">
            <a:spLocks/>
          </p:cNvSpPr>
          <p:nvPr/>
        </p:nvSpPr>
        <p:spPr>
          <a:xfrm>
            <a:off x="1910979" y="1261872"/>
            <a:ext cx="5322042" cy="332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1" i="0" u="none" strike="noStrike" cap="none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Clean chunks</a:t>
            </a:r>
          </a:p>
          <a:p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↓</a:t>
            </a:r>
          </a:p>
          <a:p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Extract relevant information</a:t>
            </a:r>
          </a:p>
          <a:p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↓</a:t>
            </a:r>
          </a:p>
          <a:p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Consider output schema</a:t>
            </a:r>
          </a:p>
          <a:p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↓</a:t>
            </a:r>
          </a:p>
          <a:p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b="1" i="0" dirty="0">
                <a:effectLst/>
                <a:latin typeface="Galvji" panose="020B0504020202020204" pitchFamily="34" charset="77"/>
                <a:cs typeface="Al Tarikh" pitchFamily="2" charset="-78"/>
              </a:rPr>
              <a:t>Return schema-fulfilling JSON output</a:t>
            </a:r>
            <a:endParaRPr lang="en-US" dirty="0">
              <a:effectLst/>
              <a:latin typeface="Galvji" panose="020B0504020202020204" pitchFamily="34" charset="77"/>
              <a:cs typeface="Al Tarikh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2604976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>
            <a:spLocks noGrp="1"/>
          </p:cNvSpPr>
          <p:nvPr>
            <p:ph type="title"/>
          </p:nvPr>
        </p:nvSpPr>
        <p:spPr>
          <a:xfrm>
            <a:off x="719999" y="92965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VALIDATION INFRASTRUCTURE</a:t>
            </a:r>
          </a:p>
        </p:txBody>
      </p:sp>
      <p:sp>
        <p:nvSpPr>
          <p:cNvPr id="6" name="Google Shape;366;p37">
            <a:extLst>
              <a:ext uri="{FF2B5EF4-FFF2-40B4-BE49-F238E27FC236}">
                <a16:creationId xmlns:a16="http://schemas.microsoft.com/office/drawing/2014/main" id="{061C7F9F-1E10-D62F-307A-72079DA350A1}"/>
              </a:ext>
            </a:extLst>
          </p:cNvPr>
          <p:cNvSpPr txBox="1">
            <a:spLocks/>
          </p:cNvSpPr>
          <p:nvPr/>
        </p:nvSpPr>
        <p:spPr>
          <a:xfrm>
            <a:off x="1650433" y="1591056"/>
            <a:ext cx="5843133" cy="2714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1" i="0" u="none" strike="noStrike" cap="none">
                <a:solidFill>
                  <a:schemeClr val="dk2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b="1" i="0" dirty="0">
                <a:effectLst/>
                <a:latin typeface="Galvji" panose="020B0504020202020204" pitchFamily="34" charset="77"/>
                <a:cs typeface="Al Tarikh" pitchFamily="2" charset="-78"/>
              </a:rPr>
              <a:t>Objective: Prepare AI-ready structured medical evidence</a:t>
            </a:r>
          </a:p>
          <a:p>
            <a:endParaRPr lang="en-US" sz="1400" b="1" i="0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sz="1400" b="1" i="0" dirty="0">
                <a:effectLst/>
                <a:latin typeface="Galvji" panose="020B0504020202020204" pitchFamily="34" charset="77"/>
                <a:cs typeface="Al Tarikh" pitchFamily="2" charset="-78"/>
              </a:rPr>
              <a:t>What I Built:</a:t>
            </a:r>
          </a:p>
          <a:p>
            <a:endParaRPr lang="en-US" sz="1400" b="1" i="0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sz="1400" b="1" i="0" dirty="0">
                <a:effectLst/>
                <a:latin typeface="Galvji" panose="020B0504020202020204" pitchFamily="34" charset="77"/>
                <a:cs typeface="Al Tarikh" pitchFamily="2" charset="-78"/>
              </a:rPr>
              <a:t>• Designed evidence schema and validation pipeline</a:t>
            </a:r>
          </a:p>
          <a:p>
            <a:r>
              <a:rPr lang="en-US" sz="1400" b="1" i="0" dirty="0">
                <a:effectLst/>
                <a:latin typeface="Galvji" panose="020B0504020202020204" pitchFamily="34" charset="77"/>
                <a:cs typeface="Al Tarikh" pitchFamily="2" charset="-78"/>
              </a:rPr>
              <a:t>• Used: </a:t>
            </a:r>
            <a:r>
              <a:rPr lang="en-US" sz="1400" b="1" i="0" dirty="0" err="1">
                <a:effectLst/>
                <a:latin typeface="Galvji" panose="020B0504020202020204" pitchFamily="34" charset="77"/>
                <a:cs typeface="Al Tarikh" pitchFamily="2" charset="-78"/>
              </a:rPr>
              <a:t>Pydantic</a:t>
            </a:r>
            <a:r>
              <a:rPr lang="en-US" sz="1400" dirty="0">
                <a:latin typeface="Galvji" panose="020B0504020202020204" pitchFamily="34" charset="77"/>
                <a:cs typeface="Al Tarikh" pitchFamily="2" charset="-78"/>
              </a:rPr>
              <a:t>, </a:t>
            </a:r>
            <a:r>
              <a:rPr lang="en-US" sz="1400" b="1" i="0" dirty="0">
                <a:effectLst/>
                <a:latin typeface="Galvji" panose="020B0504020202020204" pitchFamily="34" charset="77"/>
                <a:cs typeface="Al Tarikh" pitchFamily="2" charset="-78"/>
              </a:rPr>
              <a:t>pandas, JSON</a:t>
            </a:r>
          </a:p>
          <a:p>
            <a:endParaRPr lang="en-US" sz="1400" b="1" i="0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sz="1400" b="1" i="0" dirty="0">
                <a:effectLst/>
                <a:latin typeface="Galvji" panose="020B0504020202020204" pitchFamily="34" charset="77"/>
                <a:cs typeface="Al Tarikh" pitchFamily="2" charset="-78"/>
              </a:rPr>
              <a:t>Final Outputs:</a:t>
            </a:r>
          </a:p>
          <a:p>
            <a:endParaRPr lang="en-US" sz="1400" b="1" i="0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sz="1400" b="1" i="0" dirty="0">
                <a:effectLst/>
                <a:latin typeface="Galvji" panose="020B0504020202020204" pitchFamily="34" charset="77"/>
                <a:cs typeface="Al Tarikh" pitchFamily="2" charset="-78"/>
              </a:rPr>
              <a:t>• </a:t>
            </a:r>
            <a:r>
              <a:rPr lang="en-US" sz="1400" b="1" i="0" dirty="0" err="1">
                <a:effectLst/>
                <a:latin typeface="Galvji" panose="020B0504020202020204" pitchFamily="34" charset="77"/>
                <a:cs typeface="Al Tarikh" pitchFamily="2" charset="-78"/>
              </a:rPr>
              <a:t>all_chunks.json</a:t>
            </a:r>
            <a:endParaRPr lang="en-US" sz="1400" b="1" i="0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sz="1400" b="1" i="0" dirty="0">
                <a:effectLst/>
                <a:latin typeface="Galvji" panose="020B0504020202020204" pitchFamily="34" charset="77"/>
                <a:cs typeface="Al Tarikh" pitchFamily="2" charset="-78"/>
              </a:rPr>
              <a:t>• </a:t>
            </a:r>
            <a:r>
              <a:rPr lang="en-US" sz="1400" b="1" i="0" dirty="0" err="1">
                <a:effectLst/>
                <a:latin typeface="Galvji" panose="020B0504020202020204" pitchFamily="34" charset="77"/>
                <a:cs typeface="Al Tarikh" pitchFamily="2" charset="-78"/>
              </a:rPr>
              <a:t>evidence_schema.json</a:t>
            </a:r>
            <a:endParaRPr lang="en-US" sz="1400" b="1" i="0" dirty="0">
              <a:effectLst/>
              <a:latin typeface="Galvji" panose="020B0504020202020204" pitchFamily="34" charset="77"/>
              <a:cs typeface="Al Tarikh" pitchFamily="2" charset="-78"/>
            </a:endParaRPr>
          </a:p>
          <a:p>
            <a:r>
              <a:rPr lang="en-US" sz="1400" b="1" i="0" dirty="0">
                <a:effectLst/>
                <a:latin typeface="Galvji" panose="020B0504020202020204" pitchFamily="34" charset="77"/>
                <a:cs typeface="Al Tarikh" pitchFamily="2" charset="-78"/>
              </a:rPr>
              <a:t>• </a:t>
            </a:r>
            <a:r>
              <a:rPr lang="en-US" sz="1400" b="1" i="0" dirty="0" err="1">
                <a:effectLst/>
                <a:latin typeface="Galvji" panose="020B0504020202020204" pitchFamily="34" charset="77"/>
                <a:cs typeface="Al Tarikh" pitchFamily="2" charset="-78"/>
              </a:rPr>
              <a:t>final_evidence_table.csv</a:t>
            </a:r>
            <a:endParaRPr lang="en-US" sz="1400" b="1" i="0" dirty="0">
              <a:effectLst/>
              <a:latin typeface="Galvji" panose="020B0504020202020204" pitchFamily="34" charset="77"/>
              <a:cs typeface="Al Tarikh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188726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6"/>
          <p:cNvGrpSpPr/>
          <p:nvPr/>
        </p:nvGrpSpPr>
        <p:grpSpPr>
          <a:xfrm>
            <a:off x="559400" y="396862"/>
            <a:ext cx="3699125" cy="4349775"/>
            <a:chOff x="559400" y="396862"/>
            <a:chExt cx="3699125" cy="4349775"/>
          </a:xfrm>
        </p:grpSpPr>
        <p:pic>
          <p:nvPicPr>
            <p:cNvPr id="351" name="Google Shape;351;p36"/>
            <p:cNvPicPr preferRelativeResize="0"/>
            <p:nvPr/>
          </p:nvPicPr>
          <p:blipFill rotWithShape="1">
            <a:blip r:embed="rId3">
              <a:alphaModFix amt="60000"/>
            </a:blip>
            <a:srcRect l="8423" t="6405" r="7430" b="5256"/>
            <a:stretch/>
          </p:blipFill>
          <p:spPr>
            <a:xfrm rot="-5400000">
              <a:off x="3374150" y="3862262"/>
              <a:ext cx="787425" cy="981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36"/>
            <p:cNvPicPr preferRelativeResize="0"/>
            <p:nvPr/>
          </p:nvPicPr>
          <p:blipFill rotWithShape="1">
            <a:blip r:embed="rId3">
              <a:alphaModFix amt="60000"/>
            </a:blip>
            <a:srcRect l="8423" t="6405" r="7430" b="5256"/>
            <a:stretch/>
          </p:blipFill>
          <p:spPr>
            <a:xfrm rot="5400000">
              <a:off x="656350" y="299912"/>
              <a:ext cx="787425" cy="981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3" name="Google Shape;353;p36"/>
          <p:cNvSpPr txBox="1">
            <a:spLocks noGrp="1"/>
          </p:cNvSpPr>
          <p:nvPr>
            <p:ph type="title"/>
          </p:nvPr>
        </p:nvSpPr>
        <p:spPr>
          <a:xfrm>
            <a:off x="4462670" y="2609850"/>
            <a:ext cx="4313582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</a:t>
            </a:r>
            <a:endParaRPr dirty="0"/>
          </a:p>
        </p:txBody>
      </p:sp>
      <p:sp>
        <p:nvSpPr>
          <p:cNvPr id="355" name="Google Shape;355;p36"/>
          <p:cNvSpPr txBox="1">
            <a:spLocks noGrp="1"/>
          </p:cNvSpPr>
          <p:nvPr>
            <p:ph type="title" idx="2"/>
          </p:nvPr>
        </p:nvSpPr>
        <p:spPr>
          <a:xfrm>
            <a:off x="5813925" y="169185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356" name="Google Shape;356;p36"/>
          <p:cNvGrpSpPr/>
          <p:nvPr/>
        </p:nvGrpSpPr>
        <p:grpSpPr>
          <a:xfrm>
            <a:off x="5342500" y="4493475"/>
            <a:ext cx="835750" cy="346326"/>
            <a:chOff x="852350" y="4257675"/>
            <a:chExt cx="835750" cy="346326"/>
          </a:xfrm>
        </p:grpSpPr>
        <p:pic>
          <p:nvPicPr>
            <p:cNvPr id="357" name="Google Shape;357;p36"/>
            <p:cNvPicPr preferRelativeResize="0"/>
            <p:nvPr/>
          </p:nvPicPr>
          <p:blipFill rotWithShape="1">
            <a:blip r:embed="rId4">
              <a:alphaModFix amt="83000"/>
            </a:blip>
            <a:srcRect b="49554"/>
            <a:stretch/>
          </p:blipFill>
          <p:spPr>
            <a:xfrm>
              <a:off x="1014475" y="4257675"/>
              <a:ext cx="673625" cy="346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36"/>
            <p:cNvPicPr preferRelativeResize="0"/>
            <p:nvPr/>
          </p:nvPicPr>
          <p:blipFill rotWithShape="1">
            <a:blip r:embed="rId4">
              <a:alphaModFix amt="83000"/>
            </a:blip>
            <a:srcRect b="49554"/>
            <a:stretch/>
          </p:blipFill>
          <p:spPr>
            <a:xfrm>
              <a:off x="852350" y="4420900"/>
              <a:ext cx="356142" cy="183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26" name="Picture 2" descr="Ai Images – Browse 33,240,157 Stock Photos, Vectors, and Video | Adobe Stock">
            <a:extLst>
              <a:ext uri="{FF2B5EF4-FFF2-40B4-BE49-F238E27FC236}">
                <a16:creationId xmlns:a16="http://schemas.microsoft.com/office/drawing/2014/main" id="{BE8168EC-EDC3-B5A7-5F8E-31412D378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00" y="1338708"/>
            <a:ext cx="3699125" cy="2466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98663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9"/>
          <p:cNvSpPr txBox="1">
            <a:spLocks noGrp="1"/>
          </p:cNvSpPr>
          <p:nvPr>
            <p:ph type="subTitle" idx="8"/>
          </p:nvPr>
        </p:nvSpPr>
        <p:spPr>
          <a:xfrm>
            <a:off x="2891100" y="364171"/>
            <a:ext cx="33618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chunks.json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CF415-D9E9-2A5A-7D07-480D5FB17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1" y="708681"/>
            <a:ext cx="6254497" cy="407064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9"/>
          <p:cNvSpPr txBox="1">
            <a:spLocks noGrp="1"/>
          </p:cNvSpPr>
          <p:nvPr>
            <p:ph type="subTitle" idx="8"/>
          </p:nvPr>
        </p:nvSpPr>
        <p:spPr>
          <a:xfrm>
            <a:off x="2891100" y="374653"/>
            <a:ext cx="33618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output</a:t>
            </a:r>
            <a:r>
              <a:rPr lang="en" dirty="0"/>
              <a:t>.</a:t>
            </a:r>
            <a:r>
              <a:rPr lang="en" dirty="0" err="1"/>
              <a:t>json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317333-B41A-467B-6B51-F58450508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443" y="749653"/>
            <a:ext cx="6191114" cy="402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8533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9"/>
          <p:cNvSpPr txBox="1">
            <a:spLocks noGrp="1"/>
          </p:cNvSpPr>
          <p:nvPr>
            <p:ph type="subTitle" idx="8"/>
          </p:nvPr>
        </p:nvSpPr>
        <p:spPr>
          <a:xfrm>
            <a:off x="2891100" y="605556"/>
            <a:ext cx="33618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validated_output</a:t>
            </a:r>
            <a:r>
              <a:rPr lang="en" dirty="0"/>
              <a:t>.csv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2C81C6-4F77-5CEA-AE1C-D0C262D84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63168"/>
            <a:ext cx="7772400" cy="298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49028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6"/>
          <p:cNvGrpSpPr/>
          <p:nvPr/>
        </p:nvGrpSpPr>
        <p:grpSpPr>
          <a:xfrm>
            <a:off x="559400" y="396862"/>
            <a:ext cx="3699125" cy="4349775"/>
            <a:chOff x="559400" y="396862"/>
            <a:chExt cx="3699125" cy="4349775"/>
          </a:xfrm>
        </p:grpSpPr>
        <p:pic>
          <p:nvPicPr>
            <p:cNvPr id="351" name="Google Shape;351;p36"/>
            <p:cNvPicPr preferRelativeResize="0"/>
            <p:nvPr/>
          </p:nvPicPr>
          <p:blipFill rotWithShape="1">
            <a:blip r:embed="rId3">
              <a:alphaModFix amt="60000"/>
            </a:blip>
            <a:srcRect l="8423" t="6405" r="7430" b="5256"/>
            <a:stretch/>
          </p:blipFill>
          <p:spPr>
            <a:xfrm rot="-5400000">
              <a:off x="3374150" y="3862262"/>
              <a:ext cx="787425" cy="981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36"/>
            <p:cNvPicPr preferRelativeResize="0"/>
            <p:nvPr/>
          </p:nvPicPr>
          <p:blipFill rotWithShape="1">
            <a:blip r:embed="rId3">
              <a:alphaModFix amt="60000"/>
            </a:blip>
            <a:srcRect l="8423" t="6405" r="7430" b="5256"/>
            <a:stretch/>
          </p:blipFill>
          <p:spPr>
            <a:xfrm rot="5400000">
              <a:off x="656350" y="299912"/>
              <a:ext cx="787425" cy="981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3" name="Google Shape;353;p36"/>
          <p:cNvSpPr txBox="1">
            <a:spLocks noGrp="1"/>
          </p:cNvSpPr>
          <p:nvPr>
            <p:ph type="title"/>
          </p:nvPr>
        </p:nvSpPr>
        <p:spPr>
          <a:xfrm>
            <a:off x="4210510" y="2269393"/>
            <a:ext cx="4681330" cy="1541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</a:t>
            </a:r>
            <a:br>
              <a:rPr lang="en" dirty="0"/>
            </a:br>
            <a:r>
              <a:rPr lang="en" dirty="0"/>
              <a:t>IMPROVEMENTS</a:t>
            </a:r>
            <a:endParaRPr dirty="0"/>
          </a:p>
        </p:txBody>
      </p:sp>
      <p:sp>
        <p:nvSpPr>
          <p:cNvPr id="355" name="Google Shape;355;p36"/>
          <p:cNvSpPr txBox="1">
            <a:spLocks noGrp="1"/>
          </p:cNvSpPr>
          <p:nvPr>
            <p:ph type="title" idx="2"/>
          </p:nvPr>
        </p:nvSpPr>
        <p:spPr>
          <a:xfrm>
            <a:off x="5813925" y="1316946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356" name="Google Shape;356;p36"/>
          <p:cNvGrpSpPr/>
          <p:nvPr/>
        </p:nvGrpSpPr>
        <p:grpSpPr>
          <a:xfrm>
            <a:off x="5342500" y="4493475"/>
            <a:ext cx="835750" cy="346326"/>
            <a:chOff x="852350" y="4257675"/>
            <a:chExt cx="835750" cy="346326"/>
          </a:xfrm>
        </p:grpSpPr>
        <p:pic>
          <p:nvPicPr>
            <p:cNvPr id="357" name="Google Shape;357;p36"/>
            <p:cNvPicPr preferRelativeResize="0"/>
            <p:nvPr/>
          </p:nvPicPr>
          <p:blipFill rotWithShape="1">
            <a:blip r:embed="rId4">
              <a:alphaModFix amt="83000"/>
            </a:blip>
            <a:srcRect b="49554"/>
            <a:stretch/>
          </p:blipFill>
          <p:spPr>
            <a:xfrm>
              <a:off x="1014475" y="4257675"/>
              <a:ext cx="673625" cy="346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36"/>
            <p:cNvPicPr preferRelativeResize="0"/>
            <p:nvPr/>
          </p:nvPicPr>
          <p:blipFill rotWithShape="1">
            <a:blip r:embed="rId4">
              <a:alphaModFix amt="83000"/>
            </a:blip>
            <a:srcRect b="49554"/>
            <a:stretch/>
          </p:blipFill>
          <p:spPr>
            <a:xfrm>
              <a:off x="852350" y="4420900"/>
              <a:ext cx="356142" cy="183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BC731DA-B73C-929C-E164-373DA41EF7F0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5"/>
          <a:srcRect l="22096" r="2209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620803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3"/>
          <p:cNvSpPr txBox="1"/>
          <p:nvPr/>
        </p:nvSpPr>
        <p:spPr>
          <a:xfrm>
            <a:off x="425194" y="4328079"/>
            <a:ext cx="8293608" cy="41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1100" b="1" dirty="0">
                <a:latin typeface="Galvji" panose="020B0504020202020204" pitchFamily="34" charset="77"/>
              </a:rPr>
              <a:t>• </a:t>
            </a:r>
            <a:r>
              <a:rPr lang="en" sz="1100" b="1" dirty="0" err="1">
                <a:solidFill>
                  <a:schemeClr val="dk1"/>
                </a:solidFill>
                <a:latin typeface="Galvji" panose="020B0504020202020204" pitchFamily="34" charset="77"/>
                <a:ea typeface="Akatab"/>
                <a:cs typeface="Akatab"/>
                <a:sym typeface="Akatab"/>
              </a:rPr>
              <a:t>Streamlit</a:t>
            </a:r>
            <a:r>
              <a:rPr lang="en" sz="1100" b="1" dirty="0">
                <a:solidFill>
                  <a:schemeClr val="dk1"/>
                </a:solidFill>
                <a:latin typeface="Galvji" panose="020B0504020202020204" pitchFamily="34" charset="77"/>
                <a:ea typeface="Akatab"/>
                <a:cs typeface="Akatab"/>
                <a:sym typeface="Akatab"/>
              </a:rPr>
              <a:t> dashboard   </a:t>
            </a:r>
            <a:r>
              <a:rPr lang="en-US" sz="1100" b="1" dirty="0">
                <a:latin typeface="Galvji" panose="020B0504020202020204" pitchFamily="34" charset="77"/>
              </a:rPr>
              <a:t>• </a:t>
            </a:r>
            <a:r>
              <a:rPr lang="en" sz="1100" b="1" dirty="0">
                <a:solidFill>
                  <a:schemeClr val="dk1"/>
                </a:solidFill>
                <a:latin typeface="Galvji" panose="020B0504020202020204" pitchFamily="34" charset="77"/>
                <a:ea typeface="Akatab"/>
                <a:cs typeface="Akatab"/>
                <a:sym typeface="Akatab"/>
              </a:rPr>
              <a:t>Semantic search   </a:t>
            </a:r>
            <a:r>
              <a:rPr lang="en-US" sz="1100" b="1" dirty="0">
                <a:latin typeface="Galvji" panose="020B0504020202020204" pitchFamily="34" charset="77"/>
              </a:rPr>
              <a:t>• </a:t>
            </a:r>
            <a:r>
              <a:rPr lang="en" sz="1100" b="1" dirty="0">
                <a:solidFill>
                  <a:schemeClr val="dk1"/>
                </a:solidFill>
                <a:latin typeface="Galvji" panose="020B0504020202020204" pitchFamily="34" charset="77"/>
                <a:ea typeface="Akatab"/>
                <a:cs typeface="Akatab"/>
                <a:sym typeface="Akatab"/>
              </a:rPr>
              <a:t>SQL backend   </a:t>
            </a:r>
            <a:r>
              <a:rPr lang="en-US" sz="1100" b="1" dirty="0">
                <a:latin typeface="Galvji" panose="020B0504020202020204" pitchFamily="34" charset="77"/>
              </a:rPr>
              <a:t>• </a:t>
            </a:r>
            <a:r>
              <a:rPr lang="en" sz="1100" b="1" dirty="0">
                <a:solidFill>
                  <a:schemeClr val="dk1"/>
                </a:solidFill>
                <a:latin typeface="Galvji" panose="020B0504020202020204" pitchFamily="34" charset="77"/>
                <a:ea typeface="Akatab"/>
                <a:cs typeface="Akatab"/>
                <a:sym typeface="Akatab"/>
              </a:rPr>
              <a:t>RAG integration   </a:t>
            </a:r>
            <a:r>
              <a:rPr lang="en-US" sz="1100" b="1" dirty="0">
                <a:latin typeface="Galvji" panose="020B0504020202020204" pitchFamily="34" charset="77"/>
              </a:rPr>
              <a:t>• </a:t>
            </a:r>
            <a:r>
              <a:rPr lang="en" sz="1100" b="1" dirty="0">
                <a:solidFill>
                  <a:schemeClr val="dk1"/>
                </a:solidFill>
                <a:latin typeface="Galvji" panose="020B0504020202020204" pitchFamily="34" charset="77"/>
                <a:ea typeface="Akatab"/>
                <a:cs typeface="Akatab"/>
                <a:sym typeface="Akatab"/>
              </a:rPr>
              <a:t>Advanced medical querying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B8E6A-344B-5AF3-1BD5-0D12CA7B3A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82" t="7645" r="1882" b="2578"/>
          <a:stretch/>
        </p:blipFill>
        <p:spPr>
          <a:xfrm>
            <a:off x="1613914" y="563426"/>
            <a:ext cx="5916169" cy="36793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6"/>
          <p:cNvGrpSpPr/>
          <p:nvPr/>
        </p:nvGrpSpPr>
        <p:grpSpPr>
          <a:xfrm>
            <a:off x="559400" y="396862"/>
            <a:ext cx="3699125" cy="4349775"/>
            <a:chOff x="559400" y="396862"/>
            <a:chExt cx="3699125" cy="4349775"/>
          </a:xfrm>
        </p:grpSpPr>
        <p:pic>
          <p:nvPicPr>
            <p:cNvPr id="351" name="Google Shape;351;p36"/>
            <p:cNvPicPr preferRelativeResize="0"/>
            <p:nvPr/>
          </p:nvPicPr>
          <p:blipFill rotWithShape="1">
            <a:blip r:embed="rId3">
              <a:alphaModFix amt="60000"/>
            </a:blip>
            <a:srcRect l="8423" t="6405" r="7430" b="5256"/>
            <a:stretch/>
          </p:blipFill>
          <p:spPr>
            <a:xfrm rot="-5400000">
              <a:off x="3374150" y="3862262"/>
              <a:ext cx="787425" cy="981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36"/>
            <p:cNvPicPr preferRelativeResize="0"/>
            <p:nvPr/>
          </p:nvPicPr>
          <p:blipFill rotWithShape="1">
            <a:blip r:embed="rId3">
              <a:alphaModFix amt="60000"/>
            </a:blip>
            <a:srcRect l="8423" t="6405" r="7430" b="5256"/>
            <a:stretch/>
          </p:blipFill>
          <p:spPr>
            <a:xfrm rot="5400000">
              <a:off x="656350" y="299912"/>
              <a:ext cx="787425" cy="981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3" name="Google Shape;353;p36"/>
          <p:cNvSpPr txBox="1">
            <a:spLocks noGrp="1"/>
          </p:cNvSpPr>
          <p:nvPr>
            <p:ph type="title"/>
          </p:nvPr>
        </p:nvSpPr>
        <p:spPr>
          <a:xfrm>
            <a:off x="2415209" y="2609850"/>
            <a:ext cx="4313582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355" name="Google Shape;355;p36"/>
          <p:cNvSpPr txBox="1">
            <a:spLocks noGrp="1"/>
          </p:cNvSpPr>
          <p:nvPr>
            <p:ph type="title" idx="2"/>
          </p:nvPr>
        </p:nvSpPr>
        <p:spPr>
          <a:xfrm>
            <a:off x="3834750" y="169185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356" name="Google Shape;356;p36"/>
          <p:cNvGrpSpPr/>
          <p:nvPr/>
        </p:nvGrpSpPr>
        <p:grpSpPr>
          <a:xfrm>
            <a:off x="5342500" y="4493475"/>
            <a:ext cx="835750" cy="346326"/>
            <a:chOff x="852350" y="4257675"/>
            <a:chExt cx="835750" cy="346326"/>
          </a:xfrm>
        </p:grpSpPr>
        <p:pic>
          <p:nvPicPr>
            <p:cNvPr id="357" name="Google Shape;357;p36"/>
            <p:cNvPicPr preferRelativeResize="0"/>
            <p:nvPr/>
          </p:nvPicPr>
          <p:blipFill rotWithShape="1">
            <a:blip r:embed="rId4">
              <a:alphaModFix amt="83000"/>
            </a:blip>
            <a:srcRect b="49554"/>
            <a:stretch/>
          </p:blipFill>
          <p:spPr>
            <a:xfrm>
              <a:off x="1014475" y="4257675"/>
              <a:ext cx="673625" cy="346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36"/>
            <p:cNvPicPr preferRelativeResize="0"/>
            <p:nvPr/>
          </p:nvPicPr>
          <p:blipFill rotWithShape="1">
            <a:blip r:embed="rId4">
              <a:alphaModFix amt="83000"/>
            </a:blip>
            <a:srcRect b="49554"/>
            <a:stretch/>
          </p:blipFill>
          <p:spPr>
            <a:xfrm>
              <a:off x="852350" y="4420900"/>
              <a:ext cx="356142" cy="18310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730904847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3"/>
          <p:cNvSpPr txBox="1">
            <a:spLocks noGrp="1"/>
          </p:cNvSpPr>
          <p:nvPr>
            <p:ph type="title"/>
          </p:nvPr>
        </p:nvSpPr>
        <p:spPr>
          <a:xfrm>
            <a:off x="720000" y="1879364"/>
            <a:ext cx="7704000" cy="13847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Sepsis Atlas transforms unstructured medical literature into structured, scalable, analysis-ready clinical evidence.</a:t>
            </a:r>
            <a:endParaRPr lang="en-US" sz="2400" dirty="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</p:spTree>
    <p:extLst>
      <p:ext uri="{BB962C8B-B14F-4D97-AF65-F5344CB8AC3E}">
        <p14:creationId xmlns:p14="http://schemas.microsoft.com/office/powerpoint/2010/main" val="263048220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1"/>
          <p:cNvSpPr txBox="1">
            <a:spLocks noGrp="1"/>
          </p:cNvSpPr>
          <p:nvPr>
            <p:ph type="title"/>
          </p:nvPr>
        </p:nvSpPr>
        <p:spPr>
          <a:xfrm>
            <a:off x="2562150" y="1893266"/>
            <a:ext cx="40197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571" name="Google Shape;571;p51"/>
          <p:cNvSpPr txBox="1"/>
          <p:nvPr/>
        </p:nvSpPr>
        <p:spPr>
          <a:xfrm>
            <a:off x="3452200" y="4033063"/>
            <a:ext cx="22395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Team 1</a:t>
            </a:r>
            <a:endParaRPr sz="1000" dirty="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  <p:cxnSp>
        <p:nvCxnSpPr>
          <p:cNvPr id="572" name="Google Shape;572;p51"/>
          <p:cNvCxnSpPr>
            <a:stCxn id="571" idx="1"/>
          </p:cNvCxnSpPr>
          <p:nvPr/>
        </p:nvCxnSpPr>
        <p:spPr>
          <a:xfrm rot="10800000">
            <a:off x="2436100" y="4163263"/>
            <a:ext cx="101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73" name="Google Shape;573;p51"/>
          <p:cNvCxnSpPr>
            <a:endCxn id="571" idx="3"/>
          </p:cNvCxnSpPr>
          <p:nvPr/>
        </p:nvCxnSpPr>
        <p:spPr>
          <a:xfrm rot="10800000">
            <a:off x="5691700" y="4163263"/>
            <a:ext cx="101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586" name="Google Shape;586;p51"/>
          <p:cNvPicPr preferRelativeResize="0"/>
          <p:nvPr/>
        </p:nvPicPr>
        <p:blipFill rotWithShape="1">
          <a:blip r:embed="rId3">
            <a:alphaModFix amt="83000"/>
          </a:blip>
          <a:srcRect l="5153" t="4347" r="4757" b="5269"/>
          <a:stretch/>
        </p:blipFill>
        <p:spPr>
          <a:xfrm>
            <a:off x="7757150" y="4163263"/>
            <a:ext cx="673625" cy="822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7" name="Google Shape;587;p51"/>
          <p:cNvGrpSpPr/>
          <p:nvPr/>
        </p:nvGrpSpPr>
        <p:grpSpPr>
          <a:xfrm>
            <a:off x="852350" y="4257675"/>
            <a:ext cx="835750" cy="346326"/>
            <a:chOff x="852350" y="4257675"/>
            <a:chExt cx="835750" cy="346326"/>
          </a:xfrm>
        </p:grpSpPr>
        <p:pic>
          <p:nvPicPr>
            <p:cNvPr id="588" name="Google Shape;588;p51"/>
            <p:cNvPicPr preferRelativeResize="0"/>
            <p:nvPr/>
          </p:nvPicPr>
          <p:blipFill rotWithShape="1">
            <a:blip r:embed="rId4">
              <a:alphaModFix amt="83000"/>
            </a:blip>
            <a:srcRect b="49554"/>
            <a:stretch/>
          </p:blipFill>
          <p:spPr>
            <a:xfrm>
              <a:off x="1014475" y="4257675"/>
              <a:ext cx="673625" cy="346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51"/>
            <p:cNvPicPr preferRelativeResize="0"/>
            <p:nvPr/>
          </p:nvPicPr>
          <p:blipFill rotWithShape="1">
            <a:blip r:embed="rId4">
              <a:alphaModFix amt="83000"/>
            </a:blip>
            <a:srcRect b="49554"/>
            <a:stretch/>
          </p:blipFill>
          <p:spPr>
            <a:xfrm>
              <a:off x="852350" y="4420900"/>
              <a:ext cx="356142" cy="1831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st Reduction in Manufacturing Industry Project Proposal by Slidesgo">
  <a:themeElements>
    <a:clrScheme name="Simple Light">
      <a:dk1>
        <a:srgbClr val="141414"/>
      </a:dk1>
      <a:lt1>
        <a:srgbClr val="3572D3"/>
      </a:lt1>
      <a:dk2>
        <a:srgbClr val="1C4587"/>
      </a:dk2>
      <a:lt2>
        <a:srgbClr val="A658CA"/>
      </a:lt2>
      <a:accent1>
        <a:srgbClr val="61499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414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577</Words>
  <Application>Microsoft Macintosh PowerPoint</Application>
  <PresentationFormat>On-screen Show (16:9)</PresentationFormat>
  <Paragraphs>191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Open Sans</vt:lpstr>
      <vt:lpstr>Akatab</vt:lpstr>
      <vt:lpstr>Galvji</vt:lpstr>
      <vt:lpstr>Raleway</vt:lpstr>
      <vt:lpstr>Arial</vt:lpstr>
      <vt:lpstr>PT Sans</vt:lpstr>
      <vt:lpstr>Prompt</vt:lpstr>
      <vt:lpstr>Cost Reduction in Manufacturing Industry Project Proposal by Slidesgo</vt:lpstr>
      <vt:lpstr>Sepsis Atlas Hackathon 2026</vt:lpstr>
      <vt:lpstr>TABLE OF CONTENTS</vt:lpstr>
      <vt:lpstr>GOAL</vt:lpstr>
      <vt:lpstr>Problem Statement</vt:lpstr>
      <vt:lpstr>Project Goal</vt:lpstr>
      <vt:lpstr>ARCHITECTURE</vt:lpstr>
      <vt:lpstr>       0   1   2   3</vt:lpstr>
      <vt:lpstr>       0   1   2   3</vt:lpstr>
      <vt:lpstr>       0   1   2   3</vt:lpstr>
      <vt:lpstr>PowerPoint Presentation</vt:lpstr>
      <vt:lpstr>PDF Extraction</vt:lpstr>
      <vt:lpstr>Text Cleaning &amp; Normalization</vt:lpstr>
      <vt:lpstr>Chunk Generation Pipeline</vt:lpstr>
      <vt:lpstr>Multi-PDF Automation System</vt:lpstr>
      <vt:lpstr>LLM Layer</vt:lpstr>
      <vt:lpstr>VALIDATION INFRASTRUCTURE</vt:lpstr>
      <vt:lpstr>OUTPUT</vt:lpstr>
      <vt:lpstr>PowerPoint Presentation</vt:lpstr>
      <vt:lpstr>PowerPoint Presentation</vt:lpstr>
      <vt:lpstr>PowerPoint Presentation</vt:lpstr>
      <vt:lpstr>FUTURE IMPROVEMENTS</vt:lpstr>
      <vt:lpstr>PowerPoint Presentation</vt:lpstr>
      <vt:lpstr>CONCLUSION</vt:lpstr>
      <vt:lpstr>Sepsis Atlas transforms unstructured medical literature into structured, scalable, analysis-ready clinical evidence.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EESTech Challenge Aachen 2026</dc:title>
  <cp:lastModifiedBy>Ruciragati M.</cp:lastModifiedBy>
  <cp:revision>10</cp:revision>
  <dcterms:modified xsi:type="dcterms:W3CDTF">2026-05-08T11:45:04Z</dcterms:modified>
</cp:coreProperties>
</file>